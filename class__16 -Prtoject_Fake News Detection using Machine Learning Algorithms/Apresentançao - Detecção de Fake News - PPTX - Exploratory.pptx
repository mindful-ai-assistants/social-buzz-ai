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Espaço Reservado para Texto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Espaço Reservado para Texto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Espaço Reservado para Imagem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8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ítulo 1"/>
          <p:cNvSpPr txBox="1"/>
          <p:nvPr>
            <p:ph type="ctrTitle"/>
          </p:nvPr>
        </p:nvSpPr>
        <p:spPr>
          <a:xfrm>
            <a:off x="5297761" y="640079"/>
            <a:ext cx="6251111" cy="3566161"/>
          </a:xfrm>
          <a:prstGeom prst="rect">
            <a:avLst/>
          </a:prstGeom>
        </p:spPr>
        <p:txBody>
          <a:bodyPr/>
          <a:lstStyle>
            <a:lvl1pPr algn="l">
              <a:defRPr sz="5400"/>
            </a:lvl1pPr>
          </a:lstStyle>
          <a:p>
            <a:pPr/>
            <a:r>
              <a:t>Detecção de Fake News usando Machine Learning</a:t>
            </a:r>
          </a:p>
        </p:txBody>
      </p:sp>
      <p:sp>
        <p:nvSpPr>
          <p:cNvPr id="96" name="Subtítulo 2"/>
          <p:cNvSpPr txBox="1"/>
          <p:nvPr>
            <p:ph type="subTitle" sz="quarter" idx="1"/>
          </p:nvPr>
        </p:nvSpPr>
        <p:spPr>
          <a:xfrm>
            <a:off x="5297759" y="4636008"/>
            <a:ext cx="6251113" cy="1572769"/>
          </a:xfrm>
          <a:prstGeom prst="rect">
            <a:avLst/>
          </a:prstGeom>
        </p:spPr>
        <p:txBody>
          <a:bodyPr/>
          <a:lstStyle/>
          <a:p>
            <a:pPr algn="l" defTabSz="566927">
              <a:spcBef>
                <a:spcPts val="600"/>
              </a:spcBef>
              <a:defRPr sz="1488"/>
            </a:pPr>
          </a:p>
          <a:p>
            <a:pPr algn="l" defTabSz="566927">
              <a:spcBef>
                <a:spcPts val="600"/>
              </a:spcBef>
              <a:defRPr sz="1488"/>
            </a:pPr>
            <a:r>
              <a:t>👩🏻‍🚀 Fabiana ⚡️ Campanri</a:t>
            </a:r>
          </a:p>
          <a:p>
            <a:pPr algn="l" defTabSz="566927">
              <a:spcBef>
                <a:spcPts val="600"/>
              </a:spcBef>
              <a:defRPr sz="1488"/>
            </a:pPr>
          </a:p>
          <a:p>
            <a:pPr algn="l" defTabSz="566927">
              <a:spcBef>
                <a:spcPts val="600"/>
              </a:spcBef>
              <a:defRPr sz="1488"/>
            </a:pPr>
            <a:r>
              <a:t>👩🏻‍🚀 Pedro Barenco </a:t>
            </a:r>
          </a:p>
        </p:txBody>
      </p:sp>
      <p:pic>
        <p:nvPicPr>
          <p:cNvPr id="9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8638" t="0" r="46030" b="0"/>
          <a:stretch>
            <a:fillRect/>
          </a:stretch>
        </p:blipFill>
        <p:spPr>
          <a:xfrm>
            <a:off x="1" y="10"/>
            <a:ext cx="4657294" cy="68579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4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18235" y="21600"/>
                </a:lnTo>
                <a:lnTo>
                  <a:pt x="18642" y="21010"/>
                </a:lnTo>
                <a:cubicBezTo>
                  <a:pt x="19189" y="20153"/>
                  <a:pt x="19670" y="19271"/>
                  <a:pt x="20088" y="18364"/>
                </a:cubicBezTo>
                <a:cubicBezTo>
                  <a:pt x="20248" y="18015"/>
                  <a:pt x="20383" y="17662"/>
                  <a:pt x="20552" y="17261"/>
                </a:cubicBezTo>
                <a:cubicBezTo>
                  <a:pt x="20552" y="17297"/>
                  <a:pt x="20550" y="17331"/>
                  <a:pt x="20545" y="17366"/>
                </a:cubicBezTo>
                <a:cubicBezTo>
                  <a:pt x="20313" y="18027"/>
                  <a:pt x="20113" y="18694"/>
                  <a:pt x="19842" y="19348"/>
                </a:cubicBezTo>
                <a:cubicBezTo>
                  <a:pt x="19531" y="20097"/>
                  <a:pt x="19175" y="20832"/>
                  <a:pt x="18769" y="21549"/>
                </a:cubicBezTo>
                <a:lnTo>
                  <a:pt x="18737" y="21600"/>
                </a:lnTo>
                <a:lnTo>
                  <a:pt x="18981" y="21600"/>
                </a:lnTo>
                <a:lnTo>
                  <a:pt x="19038" y="21506"/>
                </a:lnTo>
                <a:cubicBezTo>
                  <a:pt x="19773" y="20203"/>
                  <a:pt x="20331" y="18863"/>
                  <a:pt x="20741" y="17490"/>
                </a:cubicBezTo>
                <a:cubicBezTo>
                  <a:pt x="21113" y="16246"/>
                  <a:pt x="21332" y="14988"/>
                  <a:pt x="21477" y="13724"/>
                </a:cubicBezTo>
                <a:cubicBezTo>
                  <a:pt x="21600" y="12642"/>
                  <a:pt x="21512" y="11568"/>
                  <a:pt x="21317" y="10492"/>
                </a:cubicBezTo>
                <a:cubicBezTo>
                  <a:pt x="20945" y="8391"/>
                  <a:pt x="20249" y="6322"/>
                  <a:pt x="19240" y="4319"/>
                </a:cubicBezTo>
                <a:cubicBezTo>
                  <a:pt x="18592" y="3043"/>
                  <a:pt x="17833" y="1805"/>
                  <a:pt x="16930" y="619"/>
                </a:cubicBezTo>
                <a:lnTo>
                  <a:pt x="16434" y="0"/>
                </a:lnTo>
                <a:lnTo>
                  <a:pt x="16167" y="0"/>
                </a:lnTo>
                <a:lnTo>
                  <a:pt x="16989" y="1045"/>
                </a:lnTo>
                <a:cubicBezTo>
                  <a:pt x="17305" y="1478"/>
                  <a:pt x="17602" y="1917"/>
                  <a:pt x="17884" y="2362"/>
                </a:cubicBezTo>
                <a:cubicBezTo>
                  <a:pt x="17953" y="2472"/>
                  <a:pt x="18020" y="2582"/>
                  <a:pt x="18088" y="2691"/>
                </a:cubicBezTo>
                <a:cubicBezTo>
                  <a:pt x="18035" y="2663"/>
                  <a:pt x="17995" y="2625"/>
                  <a:pt x="17970" y="2582"/>
                </a:cubicBezTo>
                <a:cubicBezTo>
                  <a:pt x="17466" y="1857"/>
                  <a:pt x="16911" y="1151"/>
                  <a:pt x="16302" y="469"/>
                </a:cubicBezTo>
                <a:lnTo>
                  <a:pt x="15858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grpSp>
        <p:nvGrpSpPr>
          <p:cNvPr id="100" name="sketchy line"/>
          <p:cNvGrpSpPr/>
          <p:nvPr/>
        </p:nvGrpSpPr>
        <p:grpSpPr>
          <a:xfrm>
            <a:off x="5412391" y="4386377"/>
            <a:ext cx="4244291" cy="52391"/>
            <a:chOff x="0" y="0"/>
            <a:chExt cx="4244289" cy="52390"/>
          </a:xfrm>
        </p:grpSpPr>
        <p:sp>
          <p:nvSpPr>
            <p:cNvPr id="98" name="Shape"/>
            <p:cNvSpPr/>
            <p:nvPr/>
          </p:nvSpPr>
          <p:spPr>
            <a:xfrm>
              <a:off x="470" y="1604"/>
              <a:ext cx="4243820" cy="498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13921" fill="norm" stroke="1" extrusionOk="0">
                  <a:moveTo>
                    <a:pt x="0" y="5946"/>
                  </a:moveTo>
                  <a:cubicBezTo>
                    <a:pt x="652" y="10752"/>
                    <a:pt x="1591" y="6262"/>
                    <a:pt x="2869" y="5946"/>
                  </a:cubicBezTo>
                  <a:cubicBezTo>
                    <a:pt x="4147" y="5631"/>
                    <a:pt x="4261" y="8322"/>
                    <a:pt x="5306" y="5946"/>
                  </a:cubicBezTo>
                  <a:cubicBezTo>
                    <a:pt x="6352" y="3571"/>
                    <a:pt x="8084" y="-2116"/>
                    <a:pt x="8823" y="5946"/>
                  </a:cubicBezTo>
                  <a:cubicBezTo>
                    <a:pt x="9563" y="14009"/>
                    <a:pt x="10447" y="7615"/>
                    <a:pt x="11693" y="5946"/>
                  </a:cubicBezTo>
                  <a:cubicBezTo>
                    <a:pt x="12938" y="4277"/>
                    <a:pt x="13740" y="-632"/>
                    <a:pt x="14562" y="5946"/>
                  </a:cubicBezTo>
                  <a:cubicBezTo>
                    <a:pt x="15383" y="12525"/>
                    <a:pt x="17254" y="13006"/>
                    <a:pt x="18079" y="5946"/>
                  </a:cubicBezTo>
                  <a:cubicBezTo>
                    <a:pt x="18904" y="-1114"/>
                    <a:pt x="20105" y="-2805"/>
                    <a:pt x="21596" y="5946"/>
                  </a:cubicBezTo>
                  <a:cubicBezTo>
                    <a:pt x="21591" y="7463"/>
                    <a:pt x="21600" y="9870"/>
                    <a:pt x="21596" y="11055"/>
                  </a:cubicBezTo>
                  <a:cubicBezTo>
                    <a:pt x="21020" y="5600"/>
                    <a:pt x="20014" y="17749"/>
                    <a:pt x="18943" y="11055"/>
                  </a:cubicBezTo>
                  <a:cubicBezTo>
                    <a:pt x="17871" y="4362"/>
                    <a:pt x="16641" y="18795"/>
                    <a:pt x="15858" y="11055"/>
                  </a:cubicBezTo>
                  <a:cubicBezTo>
                    <a:pt x="15074" y="3315"/>
                    <a:pt x="13966" y="12434"/>
                    <a:pt x="12772" y="11055"/>
                  </a:cubicBezTo>
                  <a:cubicBezTo>
                    <a:pt x="11579" y="9676"/>
                    <a:pt x="10514" y="18144"/>
                    <a:pt x="9903" y="11055"/>
                  </a:cubicBezTo>
                  <a:cubicBezTo>
                    <a:pt x="9292" y="3966"/>
                    <a:pt x="7162" y="9471"/>
                    <a:pt x="6386" y="11055"/>
                  </a:cubicBezTo>
                  <a:cubicBezTo>
                    <a:pt x="5610" y="12640"/>
                    <a:pt x="4264" y="14794"/>
                    <a:pt x="2869" y="11055"/>
                  </a:cubicBezTo>
                  <a:cubicBezTo>
                    <a:pt x="1474" y="7316"/>
                    <a:pt x="676" y="7931"/>
                    <a:pt x="0" y="11055"/>
                  </a:cubicBezTo>
                  <a:cubicBezTo>
                    <a:pt x="3" y="9764"/>
                    <a:pt x="3" y="7532"/>
                    <a:pt x="0" y="5946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9" name="Shape"/>
            <p:cNvSpPr/>
            <p:nvPr/>
          </p:nvSpPr>
          <p:spPr>
            <a:xfrm>
              <a:off x="0" y="-1"/>
              <a:ext cx="4244233" cy="523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13919" fill="norm" stroke="1" extrusionOk="0">
                  <a:moveTo>
                    <a:pt x="2" y="6081"/>
                  </a:moveTo>
                  <a:cubicBezTo>
                    <a:pt x="803" y="1923"/>
                    <a:pt x="1930" y="4533"/>
                    <a:pt x="2871" y="6081"/>
                  </a:cubicBezTo>
                  <a:cubicBezTo>
                    <a:pt x="3812" y="7630"/>
                    <a:pt x="4611" y="4613"/>
                    <a:pt x="5308" y="6081"/>
                  </a:cubicBezTo>
                  <a:cubicBezTo>
                    <a:pt x="6006" y="7549"/>
                    <a:pt x="6907" y="425"/>
                    <a:pt x="7962" y="6081"/>
                  </a:cubicBezTo>
                  <a:cubicBezTo>
                    <a:pt x="9016" y="11737"/>
                    <a:pt x="9733" y="12759"/>
                    <a:pt x="11262" y="6081"/>
                  </a:cubicBezTo>
                  <a:cubicBezTo>
                    <a:pt x="12792" y="-597"/>
                    <a:pt x="12800" y="-1124"/>
                    <a:pt x="14131" y="6081"/>
                  </a:cubicBezTo>
                  <a:cubicBezTo>
                    <a:pt x="15463" y="13286"/>
                    <a:pt x="16178" y="10894"/>
                    <a:pt x="16784" y="6081"/>
                  </a:cubicBezTo>
                  <a:cubicBezTo>
                    <a:pt x="17391" y="1268"/>
                    <a:pt x="20420" y="-4777"/>
                    <a:pt x="21597" y="6081"/>
                  </a:cubicBezTo>
                  <a:cubicBezTo>
                    <a:pt x="21599" y="8055"/>
                    <a:pt x="21597" y="8957"/>
                    <a:pt x="21597" y="10940"/>
                  </a:cubicBezTo>
                  <a:cubicBezTo>
                    <a:pt x="20932" y="5323"/>
                    <a:pt x="19991" y="6568"/>
                    <a:pt x="18512" y="10940"/>
                  </a:cubicBezTo>
                  <a:cubicBezTo>
                    <a:pt x="17033" y="15313"/>
                    <a:pt x="16563" y="13167"/>
                    <a:pt x="15859" y="10940"/>
                  </a:cubicBezTo>
                  <a:cubicBezTo>
                    <a:pt x="15155" y="8713"/>
                    <a:pt x="13336" y="13752"/>
                    <a:pt x="12342" y="10940"/>
                  </a:cubicBezTo>
                  <a:cubicBezTo>
                    <a:pt x="11348" y="8128"/>
                    <a:pt x="10629" y="5057"/>
                    <a:pt x="9473" y="10940"/>
                  </a:cubicBezTo>
                  <a:cubicBezTo>
                    <a:pt x="8317" y="16823"/>
                    <a:pt x="7648" y="5850"/>
                    <a:pt x="7036" y="10940"/>
                  </a:cubicBezTo>
                  <a:cubicBezTo>
                    <a:pt x="6424" y="16030"/>
                    <a:pt x="5322" y="13614"/>
                    <a:pt x="3735" y="10940"/>
                  </a:cubicBezTo>
                  <a:cubicBezTo>
                    <a:pt x="2148" y="8266"/>
                    <a:pt x="1739" y="1204"/>
                    <a:pt x="2" y="10940"/>
                  </a:cubicBezTo>
                  <a:cubicBezTo>
                    <a:pt x="-1" y="9590"/>
                    <a:pt x="-1" y="7763"/>
                    <a:pt x="2" y="6081"/>
                  </a:cubicBezTo>
                  <a:close/>
                </a:path>
              </a:pathLst>
            </a:custGeom>
            <a:noFill/>
            <a:ln w="44450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10" grpId="1" fill="hold">
                                  <p:stCondLst>
                                    <p:cond delay="1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4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2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9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Class="entr" nodeType="withEffect" presetSubtype="0" presetID="10" grpId="2" fill="hold">
                                  <p:stCondLst>
                                    <p:cond delay="2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4" dur="4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800"/>
                            </p:stCondLst>
                            <p:childTnLst>
                              <p:par>
                                <p:cTn id="16" presetClass="entr" nodeType="afterEffect" presetID="10" grpId="2" fill="hold">
                                  <p:stCondLst>
                                    <p:cond delay="2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8" dur="400"/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200"/>
                            </p:stCondLst>
                            <p:childTnLst>
                              <p:par>
                                <p:cTn id="20" presetClass="entr" nodeType="afterEffect" presetID="10" grpId="2" fill="hold">
                                  <p:stCondLst>
                                    <p:cond delay="2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400"/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8600"/>
                            </p:stCondLst>
                            <p:childTnLst>
                              <p:par>
                                <p:cTn id="24" presetClass="entr" nodeType="afterEffect" presetID="10" grpId="2" fill="hold">
                                  <p:stCondLst>
                                    <p:cond delay="2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400"/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1000"/>
                            </p:stCondLst>
                            <p:childTnLst>
                              <p:par>
                                <p:cTn id="28" presetClass="entr" nodeType="afterEffect" presetID="10" grpId="2" fill="hold">
                                  <p:stCondLst>
                                    <p:cond delay="2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0" dur="400"/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5" grpId="1"/>
      <p:bldP build="p" bldLvl="1" animBg="1" rev="0" advAuto="0" spid="96" grpId="2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7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Título 1"/>
          <p:cNvSpPr txBox="1"/>
          <p:nvPr>
            <p:ph type="title"/>
          </p:nvPr>
        </p:nvSpPr>
        <p:spPr>
          <a:xfrm>
            <a:off x="841247" y="548640"/>
            <a:ext cx="3600862" cy="5431536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pPr/>
            <a:r>
              <a:t>Introdução / Metodologia</a:t>
            </a:r>
          </a:p>
        </p:txBody>
      </p:sp>
      <p:grpSp>
        <p:nvGrpSpPr>
          <p:cNvPr id="106" name="sketch line"/>
          <p:cNvGrpSpPr/>
          <p:nvPr/>
        </p:nvGrpSpPr>
        <p:grpSpPr>
          <a:xfrm>
            <a:off x="4760405" y="1027108"/>
            <a:ext cx="50774" cy="4481262"/>
            <a:chOff x="0" y="0"/>
            <a:chExt cx="50773" cy="4481260"/>
          </a:xfrm>
        </p:grpSpPr>
        <p:sp>
          <p:nvSpPr>
            <p:cNvPr id="104" name="Shape"/>
            <p:cNvSpPr/>
            <p:nvPr/>
          </p:nvSpPr>
          <p:spPr>
            <a:xfrm rot="5400000">
              <a:off x="-2216917" y="2217386"/>
              <a:ext cx="4480791" cy="46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12453" fill="norm" stroke="1" extrusionOk="0">
                  <a:moveTo>
                    <a:pt x="0" y="3701"/>
                  </a:moveTo>
                  <a:cubicBezTo>
                    <a:pt x="1376" y="3760"/>
                    <a:pt x="1555" y="8003"/>
                    <a:pt x="2869" y="3701"/>
                  </a:cubicBezTo>
                  <a:cubicBezTo>
                    <a:pt x="4183" y="-602"/>
                    <a:pt x="4768" y="719"/>
                    <a:pt x="5306" y="3701"/>
                  </a:cubicBezTo>
                  <a:cubicBezTo>
                    <a:pt x="5845" y="6682"/>
                    <a:pt x="7588" y="-5955"/>
                    <a:pt x="8824" y="3701"/>
                  </a:cubicBezTo>
                  <a:cubicBezTo>
                    <a:pt x="10059" y="13356"/>
                    <a:pt x="10512" y="4933"/>
                    <a:pt x="11693" y="3701"/>
                  </a:cubicBezTo>
                  <a:cubicBezTo>
                    <a:pt x="12874" y="2469"/>
                    <a:pt x="13409" y="9781"/>
                    <a:pt x="14562" y="3701"/>
                  </a:cubicBezTo>
                  <a:cubicBezTo>
                    <a:pt x="15715" y="-2380"/>
                    <a:pt x="16662" y="3280"/>
                    <a:pt x="18079" y="3701"/>
                  </a:cubicBezTo>
                  <a:cubicBezTo>
                    <a:pt x="19495" y="4121"/>
                    <a:pt x="20739" y="8220"/>
                    <a:pt x="21596" y="3701"/>
                  </a:cubicBezTo>
                  <a:cubicBezTo>
                    <a:pt x="21592" y="5140"/>
                    <a:pt x="21600" y="7426"/>
                    <a:pt x="21596" y="8551"/>
                  </a:cubicBezTo>
                  <a:cubicBezTo>
                    <a:pt x="20628" y="1884"/>
                    <a:pt x="20247" y="14724"/>
                    <a:pt x="18943" y="8551"/>
                  </a:cubicBezTo>
                  <a:cubicBezTo>
                    <a:pt x="17638" y="2377"/>
                    <a:pt x="16658" y="9613"/>
                    <a:pt x="15858" y="8551"/>
                  </a:cubicBezTo>
                  <a:cubicBezTo>
                    <a:pt x="15057" y="7488"/>
                    <a:pt x="13893" y="12404"/>
                    <a:pt x="12773" y="8551"/>
                  </a:cubicBezTo>
                  <a:cubicBezTo>
                    <a:pt x="11652" y="4697"/>
                    <a:pt x="10789" y="5646"/>
                    <a:pt x="9903" y="8551"/>
                  </a:cubicBezTo>
                  <a:cubicBezTo>
                    <a:pt x="9018" y="11455"/>
                    <a:pt x="7550" y="15645"/>
                    <a:pt x="6386" y="8551"/>
                  </a:cubicBezTo>
                  <a:cubicBezTo>
                    <a:pt x="5223" y="1456"/>
                    <a:pt x="3795" y="6603"/>
                    <a:pt x="2869" y="8551"/>
                  </a:cubicBezTo>
                  <a:cubicBezTo>
                    <a:pt x="1943" y="10498"/>
                    <a:pt x="818" y="6485"/>
                    <a:pt x="0" y="8551"/>
                  </a:cubicBezTo>
                  <a:cubicBezTo>
                    <a:pt x="3" y="7325"/>
                    <a:pt x="3" y="5206"/>
                    <a:pt x="0" y="3701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5" name="Shape"/>
            <p:cNvSpPr/>
            <p:nvPr/>
          </p:nvSpPr>
          <p:spPr>
            <a:xfrm rot="5400000">
              <a:off x="-2214379" y="2216051"/>
              <a:ext cx="4481203" cy="49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15409" fill="norm" stroke="1" extrusionOk="0">
                  <a:moveTo>
                    <a:pt x="2" y="5578"/>
                  </a:moveTo>
                  <a:cubicBezTo>
                    <a:pt x="1293" y="8318"/>
                    <a:pt x="1612" y="6403"/>
                    <a:pt x="2871" y="5578"/>
                  </a:cubicBezTo>
                  <a:cubicBezTo>
                    <a:pt x="4130" y="4753"/>
                    <a:pt x="4165" y="1387"/>
                    <a:pt x="5308" y="5578"/>
                  </a:cubicBezTo>
                  <a:cubicBezTo>
                    <a:pt x="6451" y="9768"/>
                    <a:pt x="6902" y="-2539"/>
                    <a:pt x="7961" y="5578"/>
                  </a:cubicBezTo>
                  <a:cubicBezTo>
                    <a:pt x="9021" y="13694"/>
                    <a:pt x="10476" y="13055"/>
                    <a:pt x="11262" y="5578"/>
                  </a:cubicBezTo>
                  <a:cubicBezTo>
                    <a:pt x="12049" y="-1900"/>
                    <a:pt x="13115" y="14411"/>
                    <a:pt x="14131" y="5578"/>
                  </a:cubicBezTo>
                  <a:cubicBezTo>
                    <a:pt x="15148" y="-3256"/>
                    <a:pt x="16021" y="14058"/>
                    <a:pt x="16785" y="5578"/>
                  </a:cubicBezTo>
                  <a:cubicBezTo>
                    <a:pt x="17548" y="-2903"/>
                    <a:pt x="19339" y="-736"/>
                    <a:pt x="21597" y="5578"/>
                  </a:cubicBezTo>
                  <a:cubicBezTo>
                    <a:pt x="21599" y="7909"/>
                    <a:pt x="21597" y="8974"/>
                    <a:pt x="21597" y="11317"/>
                  </a:cubicBezTo>
                  <a:cubicBezTo>
                    <a:pt x="20795" y="10261"/>
                    <a:pt x="19418" y="17074"/>
                    <a:pt x="18512" y="11317"/>
                  </a:cubicBezTo>
                  <a:cubicBezTo>
                    <a:pt x="17606" y="5560"/>
                    <a:pt x="17101" y="6471"/>
                    <a:pt x="15859" y="11317"/>
                  </a:cubicBezTo>
                  <a:cubicBezTo>
                    <a:pt x="14617" y="16162"/>
                    <a:pt x="13643" y="8314"/>
                    <a:pt x="12342" y="11317"/>
                  </a:cubicBezTo>
                  <a:cubicBezTo>
                    <a:pt x="11041" y="14320"/>
                    <a:pt x="10352" y="7689"/>
                    <a:pt x="9473" y="11317"/>
                  </a:cubicBezTo>
                  <a:cubicBezTo>
                    <a:pt x="8594" y="14945"/>
                    <a:pt x="8146" y="18344"/>
                    <a:pt x="7036" y="11317"/>
                  </a:cubicBezTo>
                  <a:cubicBezTo>
                    <a:pt x="5925" y="4290"/>
                    <a:pt x="4415" y="17033"/>
                    <a:pt x="3735" y="11317"/>
                  </a:cubicBezTo>
                  <a:cubicBezTo>
                    <a:pt x="3056" y="5601"/>
                    <a:pt x="1744" y="2092"/>
                    <a:pt x="2" y="11317"/>
                  </a:cubicBezTo>
                  <a:cubicBezTo>
                    <a:pt x="-1" y="9722"/>
                    <a:pt x="-1" y="7564"/>
                    <a:pt x="2" y="5578"/>
                  </a:cubicBezTo>
                  <a:close/>
                </a:path>
              </a:pathLst>
            </a:custGeom>
            <a:noFill/>
            <a:ln w="41275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07" name="Espaço Reservado para Conteúdo 2"/>
          <p:cNvSpPr txBox="1"/>
          <p:nvPr>
            <p:ph type="body" idx="1"/>
          </p:nvPr>
        </p:nvSpPr>
        <p:spPr>
          <a:xfrm>
            <a:off x="5126418" y="552091"/>
            <a:ext cx="6224336" cy="5431536"/>
          </a:xfrm>
          <a:prstGeom prst="rect">
            <a:avLst/>
          </a:prstGeom>
        </p:spPr>
        <p:txBody>
          <a:bodyPr anchor="ctr"/>
          <a:lstStyle/>
          <a:p>
            <a:pPr>
              <a:defRPr sz="2200"/>
            </a:pPr>
            <a:r>
              <a:t>Fake News são muito prejudiciais para a sociedade como um todo, então são necessárias alternativas para amenizar seus efeitos, que consigam detectar o que é verdadeiro e o que é falso.</a:t>
            </a:r>
          </a:p>
          <a:p>
            <a:pPr>
              <a:defRPr sz="2200"/>
            </a:pPr>
            <a:r>
              <a:t>Nesse estudo, foram usadas técnicas de Machine Learning para detecção de Fake News em uma base de dados tirada da plataforma Kaggle, a partir da linguagem de programação Python.</a:t>
            </a:r>
          </a:p>
          <a:p>
            <a:pPr>
              <a:defRPr sz="2200"/>
            </a:pPr>
            <a:r>
              <a:t>Os algoritmos utilizados foram de regressão logística, árvore de decisão, random forest, SVM e KNN.</a:t>
            </a:r>
          </a:p>
          <a:p>
            <a:pPr>
              <a:defRPr sz="2200"/>
            </a:pPr>
            <a:r>
              <a:t>As principais bibliotecas importadas para apoio foram Pandas, NumPy, Matplotlib, Seaborn e Scikit-Learn.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wipe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14" descr="Picture 14"/>
          <p:cNvPicPr>
            <a:picLocks noChangeAspect="1"/>
          </p:cNvPicPr>
          <p:nvPr/>
        </p:nvPicPr>
        <p:blipFill>
          <a:blip r:embed="rId2">
            <a:extLst/>
          </a:blip>
          <a:srcRect l="0" t="23743" r="0" b="1257"/>
          <a:stretch>
            <a:fillRect/>
          </a:stretch>
        </p:blipFill>
        <p:spPr>
          <a:xfrm>
            <a:off x="19" y="9"/>
            <a:ext cx="12191981" cy="6857991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Rectangle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rgbClr val="E8E8E8">
                  <a:alpha val="68000"/>
                </a:srgbClr>
              </a:gs>
              <a:gs pos="85000">
                <a:srgbClr val="E8E8E8">
                  <a:alpha val="9700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ítulo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Tratamento dos dados</a:t>
            </a:r>
          </a:p>
        </p:txBody>
      </p:sp>
      <p:grpSp>
        <p:nvGrpSpPr>
          <p:cNvPr id="124" name="Espaço Reservado para Conteúdo 2"/>
          <p:cNvGrpSpPr/>
          <p:nvPr/>
        </p:nvGrpSpPr>
        <p:grpSpPr>
          <a:xfrm>
            <a:off x="838200" y="2906192"/>
            <a:ext cx="10515599" cy="2190203"/>
            <a:chOff x="0" y="0"/>
            <a:chExt cx="10515598" cy="2190202"/>
          </a:xfrm>
        </p:grpSpPr>
        <p:sp>
          <p:nvSpPr>
            <p:cNvPr id="112" name="Rounded Rectangle"/>
            <p:cNvSpPr/>
            <p:nvPr/>
          </p:nvSpPr>
          <p:spPr>
            <a:xfrm>
              <a:off x="0" y="0"/>
              <a:ext cx="2957512" cy="1878021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  <a:defRPr sz="2800"/>
              </a:pPr>
            </a:p>
          </p:txBody>
        </p:sp>
        <p:grpSp>
          <p:nvGrpSpPr>
            <p:cNvPr id="115" name="Group"/>
            <p:cNvGrpSpPr/>
            <p:nvPr/>
          </p:nvGrpSpPr>
          <p:grpSpPr>
            <a:xfrm>
              <a:off x="328611" y="312182"/>
              <a:ext cx="2957513" cy="1878021"/>
              <a:chOff x="0" y="0"/>
              <a:chExt cx="2957511" cy="1878020"/>
            </a:xfrm>
          </p:grpSpPr>
          <p:sp>
            <p:nvSpPr>
              <p:cNvPr id="113" name="Rounded Rectangle"/>
              <p:cNvSpPr/>
              <p:nvPr/>
            </p:nvSpPr>
            <p:spPr>
              <a:xfrm>
                <a:off x="0" y="0"/>
                <a:ext cx="2957512" cy="1878021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90000"/>
                </a:srgbClr>
              </a:solidFill>
              <a:ln w="190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55650">
                  <a:lnSpc>
                    <a:spcPct val="90000"/>
                  </a:lnSpc>
                  <a:spcBef>
                    <a:spcPts val="1100"/>
                  </a:spcBef>
                  <a:defRPr sz="1700"/>
                </a:pPr>
              </a:p>
            </p:txBody>
          </p:sp>
          <p:sp>
            <p:nvSpPr>
              <p:cNvPr id="114" name="A base de dados  estava dividida em duas partes, uma contendo 23.481 linhas de notícias falsas, e outra com 21.417 linhas de notícias verdadeiras."/>
              <p:cNvSpPr txBox="1"/>
              <p:nvPr/>
            </p:nvSpPr>
            <p:spPr>
              <a:xfrm>
                <a:off x="55005" y="175739"/>
                <a:ext cx="2847502" cy="15265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64769" tIns="64769" rIns="64769" bIns="64769" numCol="1" anchor="ctr">
                <a:spAutoFit/>
              </a:bodyPr>
              <a:lstStyle>
                <a:lvl1pPr algn="ctr" defTabSz="755650">
                  <a:lnSpc>
                    <a:spcPct val="90000"/>
                  </a:lnSpc>
                  <a:spcBef>
                    <a:spcPts val="700"/>
                  </a:spcBef>
                  <a:defRPr sz="1700"/>
                </a:lvl1pPr>
              </a:lstStyle>
              <a:p>
                <a:pPr/>
                <a:r>
                  <a:t>A base de dados  estava dividida em duas partes, uma contendo 23.481 linhas de notícias falsas, e outra com 21.417 linhas de notícias verdadeiras. </a:t>
                </a:r>
              </a:p>
            </p:txBody>
          </p:sp>
        </p:grpSp>
        <p:sp>
          <p:nvSpPr>
            <p:cNvPr id="116" name="Rounded Rectangle"/>
            <p:cNvSpPr/>
            <p:nvPr/>
          </p:nvSpPr>
          <p:spPr>
            <a:xfrm>
              <a:off x="3614737" y="0"/>
              <a:ext cx="2957513" cy="1878021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  <a:defRPr sz="2800"/>
              </a:pPr>
            </a:p>
          </p:txBody>
        </p:sp>
        <p:grpSp>
          <p:nvGrpSpPr>
            <p:cNvPr id="119" name="Group"/>
            <p:cNvGrpSpPr/>
            <p:nvPr/>
          </p:nvGrpSpPr>
          <p:grpSpPr>
            <a:xfrm>
              <a:off x="3943350" y="312182"/>
              <a:ext cx="2957512" cy="1878021"/>
              <a:chOff x="0" y="0"/>
              <a:chExt cx="2957511" cy="1878020"/>
            </a:xfrm>
          </p:grpSpPr>
          <p:sp>
            <p:nvSpPr>
              <p:cNvPr id="117" name="Rounded Rectangle"/>
              <p:cNvSpPr/>
              <p:nvPr/>
            </p:nvSpPr>
            <p:spPr>
              <a:xfrm>
                <a:off x="0" y="0"/>
                <a:ext cx="2957512" cy="1878021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90000"/>
                </a:srgbClr>
              </a:solidFill>
              <a:ln w="190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55650">
                  <a:lnSpc>
                    <a:spcPct val="90000"/>
                  </a:lnSpc>
                  <a:spcBef>
                    <a:spcPts val="1100"/>
                  </a:spcBef>
                  <a:defRPr sz="1700"/>
                </a:pPr>
              </a:p>
            </p:txBody>
          </p:sp>
          <p:sp>
            <p:nvSpPr>
              <p:cNvPr id="118" name="Ao todo, eram 44.898 dados e 4 colunas (atributos), que consistiam em: título, assunto abordado, a notícia em si e a data em que o artigo foi publicado."/>
              <p:cNvSpPr txBox="1"/>
              <p:nvPr/>
            </p:nvSpPr>
            <p:spPr>
              <a:xfrm>
                <a:off x="55005" y="61439"/>
                <a:ext cx="2847503" cy="17551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64769" tIns="64769" rIns="64769" bIns="64769" numCol="1" anchor="ctr">
                <a:spAutoFit/>
              </a:bodyPr>
              <a:lstStyle>
                <a:lvl1pPr algn="ctr" defTabSz="755650">
                  <a:lnSpc>
                    <a:spcPct val="90000"/>
                  </a:lnSpc>
                  <a:spcBef>
                    <a:spcPts val="700"/>
                  </a:spcBef>
                  <a:defRPr sz="1700"/>
                </a:lvl1pPr>
              </a:lstStyle>
              <a:p>
                <a:pPr/>
                <a:r>
                  <a:t>Ao todo, eram 44.898 dados e 4 colunas (atributos), que consistiam em: título, assunto abordado, a notícia em si e a data em que o artigo foi publicado. </a:t>
                </a:r>
              </a:p>
            </p:txBody>
          </p:sp>
        </p:grpSp>
        <p:sp>
          <p:nvSpPr>
            <p:cNvPr id="120" name="Rounded Rectangle"/>
            <p:cNvSpPr/>
            <p:nvPr/>
          </p:nvSpPr>
          <p:spPr>
            <a:xfrm>
              <a:off x="7229475" y="0"/>
              <a:ext cx="2957512" cy="1878021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  <a:defRPr sz="2800"/>
              </a:pPr>
            </a:p>
          </p:txBody>
        </p:sp>
        <p:grpSp>
          <p:nvGrpSpPr>
            <p:cNvPr id="123" name="Group"/>
            <p:cNvGrpSpPr/>
            <p:nvPr/>
          </p:nvGrpSpPr>
          <p:grpSpPr>
            <a:xfrm>
              <a:off x="7558086" y="312182"/>
              <a:ext cx="2957513" cy="1878021"/>
              <a:chOff x="0" y="0"/>
              <a:chExt cx="2957511" cy="1878020"/>
            </a:xfrm>
          </p:grpSpPr>
          <p:sp>
            <p:nvSpPr>
              <p:cNvPr id="121" name="Rounded Rectangle"/>
              <p:cNvSpPr/>
              <p:nvPr/>
            </p:nvSpPr>
            <p:spPr>
              <a:xfrm>
                <a:off x="0" y="0"/>
                <a:ext cx="2957512" cy="1878021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90000"/>
                </a:srgbClr>
              </a:solidFill>
              <a:ln w="190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55650">
                  <a:lnSpc>
                    <a:spcPct val="90000"/>
                  </a:lnSpc>
                  <a:spcBef>
                    <a:spcPts val="1100"/>
                  </a:spcBef>
                  <a:defRPr sz="1700"/>
                </a:pPr>
              </a:p>
            </p:txBody>
          </p:sp>
          <p:sp>
            <p:nvSpPr>
              <p:cNvPr id="122" name="Uma quinta coluna foi criada (target), apontando quais notícias eram falsas (fake), e quais eram verdadeiras (true)."/>
              <p:cNvSpPr txBox="1"/>
              <p:nvPr/>
            </p:nvSpPr>
            <p:spPr>
              <a:xfrm>
                <a:off x="55005" y="290039"/>
                <a:ext cx="2847503" cy="12979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64769" tIns="64769" rIns="64769" bIns="64769" numCol="1" anchor="ctr">
                <a:spAutoFit/>
              </a:bodyPr>
              <a:lstStyle>
                <a:lvl1pPr algn="ctr" defTabSz="755650">
                  <a:lnSpc>
                    <a:spcPct val="90000"/>
                  </a:lnSpc>
                  <a:spcBef>
                    <a:spcPts val="700"/>
                  </a:spcBef>
                  <a:defRPr sz="1700"/>
                </a:lvl1pPr>
              </a:lstStyle>
              <a:p>
                <a:pPr/>
                <a:r>
                  <a:t>Uma quinta coluna foi criada (target), apontando quais notícias eram falsas (fake), e quais eram verdadeiras (true).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rcRect l="0" t="5552" r="0" b="10178"/>
          <a:stretch>
            <a:fillRect/>
          </a:stretch>
        </p:blipFill>
        <p:spPr>
          <a:xfrm>
            <a:off x="19" y="9"/>
            <a:ext cx="12191981" cy="685799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Rectangle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rgbClr val="E8E8E8">
                  <a:alpha val="68000"/>
                </a:srgbClr>
              </a:gs>
              <a:gs pos="85000">
                <a:srgbClr val="E8E8E8">
                  <a:alpha val="9700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43" name="Espaço Reservado para Conteúdo 2"/>
          <p:cNvGrpSpPr/>
          <p:nvPr/>
        </p:nvGrpSpPr>
        <p:grpSpPr>
          <a:xfrm>
            <a:off x="838200" y="1825625"/>
            <a:ext cx="10515600" cy="4351337"/>
            <a:chOff x="0" y="0"/>
            <a:chExt cx="10515599" cy="4351336"/>
          </a:xfrm>
        </p:grpSpPr>
        <p:grpSp>
          <p:nvGrpSpPr>
            <p:cNvPr id="130" name="Group"/>
            <p:cNvGrpSpPr/>
            <p:nvPr/>
          </p:nvGrpSpPr>
          <p:grpSpPr>
            <a:xfrm>
              <a:off x="0" y="0"/>
              <a:ext cx="8412481" cy="957294"/>
              <a:chOff x="0" y="0"/>
              <a:chExt cx="8412480" cy="957293"/>
            </a:xfrm>
          </p:grpSpPr>
          <p:sp>
            <p:nvSpPr>
              <p:cNvPr id="128" name="Rounded Rectangle"/>
              <p:cNvSpPr/>
              <p:nvPr/>
            </p:nvSpPr>
            <p:spPr>
              <a:xfrm>
                <a:off x="0" y="0"/>
                <a:ext cx="8412481" cy="957294"/>
              </a:xfrm>
              <a:prstGeom prst="roundRect">
                <a:avLst>
                  <a:gd name="adj" fmla="val 10000"/>
                </a:avLst>
              </a:prstGeom>
              <a:solidFill>
                <a:schemeClr val="accent2"/>
              </a:solidFill>
              <a:ln w="190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800100">
                  <a:lnSpc>
                    <a:spcPct val="90000"/>
                  </a:lnSpc>
                  <a:spcBef>
                    <a:spcPts val="11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29" name="Foi usada uma biblioteca chamada Shuffle, para embaralhar as notícias falsas entre as verdadeiras, assim impedindo que os resultados sejam enviesados."/>
              <p:cNvSpPr txBox="1"/>
              <p:nvPr/>
            </p:nvSpPr>
            <p:spPr>
              <a:xfrm>
                <a:off x="28037" y="18907"/>
                <a:ext cx="7298595" cy="9194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68580" tIns="68580" rIns="68580" bIns="68580" numCol="1" anchor="ctr">
                <a:spAutoFit/>
              </a:bodyPr>
              <a:lstStyle>
                <a:lvl1pPr defTabSz="8001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Foi usada uma biblioteca chamada Shuffle, para embaralhar as notícias falsas entre as verdadeiras, assim impedindo que os resultados sejam enviesados.</a:t>
                </a:r>
              </a:p>
            </p:txBody>
          </p:sp>
        </p:grpSp>
        <p:grpSp>
          <p:nvGrpSpPr>
            <p:cNvPr id="133" name="Group"/>
            <p:cNvGrpSpPr/>
            <p:nvPr/>
          </p:nvGrpSpPr>
          <p:grpSpPr>
            <a:xfrm>
              <a:off x="704544" y="1131347"/>
              <a:ext cx="8412482" cy="957295"/>
              <a:chOff x="0" y="0"/>
              <a:chExt cx="8412480" cy="957293"/>
            </a:xfrm>
          </p:grpSpPr>
          <p:sp>
            <p:nvSpPr>
              <p:cNvPr id="131" name="Rounded Rectangle"/>
              <p:cNvSpPr/>
              <p:nvPr/>
            </p:nvSpPr>
            <p:spPr>
              <a:xfrm>
                <a:off x="0" y="0"/>
                <a:ext cx="8412481" cy="957294"/>
              </a:xfrm>
              <a:prstGeom prst="roundRect">
                <a:avLst>
                  <a:gd name="adj" fmla="val 10000"/>
                </a:avLst>
              </a:prstGeom>
              <a:solidFill>
                <a:srgbClr val="CBC11E"/>
              </a:solidFill>
              <a:ln w="190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800100">
                  <a:lnSpc>
                    <a:spcPct val="90000"/>
                  </a:lnSpc>
                  <a:spcBef>
                    <a:spcPts val="11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32" name="Foram removidas as colunas de data e título, assim como nos textos, caracteres desnecessários como pontuação, letras maiúsculas (que viraram minúsculas), preposições e artigos."/>
              <p:cNvSpPr txBox="1"/>
              <p:nvPr/>
            </p:nvSpPr>
            <p:spPr>
              <a:xfrm>
                <a:off x="28038" y="18907"/>
                <a:ext cx="7029617" cy="9194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68580" tIns="68580" rIns="68580" bIns="68580" numCol="1" anchor="ctr">
                <a:spAutoFit/>
              </a:bodyPr>
              <a:lstStyle>
                <a:lvl1pPr defTabSz="8001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Foram removidas as colunas de data e título, assim como nos textos, caracteres desnecessários como pontuação, letras maiúsculas (que viraram minúsculas), preposições e artigos.</a:t>
                </a:r>
              </a:p>
            </p:txBody>
          </p:sp>
        </p:grpSp>
        <p:grpSp>
          <p:nvGrpSpPr>
            <p:cNvPr id="136" name="Group"/>
            <p:cNvGrpSpPr/>
            <p:nvPr/>
          </p:nvGrpSpPr>
          <p:grpSpPr>
            <a:xfrm>
              <a:off x="1398574" y="2262695"/>
              <a:ext cx="8412481" cy="957295"/>
              <a:chOff x="0" y="0"/>
              <a:chExt cx="8412480" cy="957293"/>
            </a:xfrm>
          </p:grpSpPr>
          <p:sp>
            <p:nvSpPr>
              <p:cNvPr id="134" name="Rounded Rectangle"/>
              <p:cNvSpPr/>
              <p:nvPr/>
            </p:nvSpPr>
            <p:spPr>
              <a:xfrm>
                <a:off x="0" y="0"/>
                <a:ext cx="8412481" cy="957294"/>
              </a:xfrm>
              <a:prstGeom prst="roundRect">
                <a:avLst>
                  <a:gd name="adj" fmla="val 10000"/>
                </a:avLst>
              </a:prstGeom>
              <a:solidFill>
                <a:srgbClr val="56991D"/>
              </a:solidFill>
              <a:ln w="190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800100">
                  <a:lnSpc>
                    <a:spcPct val="90000"/>
                  </a:lnSpc>
                  <a:spcBef>
                    <a:spcPts val="11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35" name="A partir da biblioteca WordCloud, foi analisado a frequência de cada palavra, atribuindo-se o tamanho delas de acordo com o quanto cada uma se repete."/>
              <p:cNvSpPr txBox="1"/>
              <p:nvPr/>
            </p:nvSpPr>
            <p:spPr>
              <a:xfrm>
                <a:off x="28037" y="18907"/>
                <a:ext cx="7040134" cy="9194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68580" tIns="68580" rIns="68580" bIns="68580" numCol="1" anchor="ctr">
                <a:spAutoFit/>
              </a:bodyPr>
              <a:lstStyle>
                <a:lvl1pPr defTabSz="8001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A partir da biblioteca WordCloud, foi analisado a frequência de cada palavra, atribuindo-se o tamanho delas de acordo com o quanto cada uma se repete.</a:t>
                </a:r>
              </a:p>
            </p:txBody>
          </p:sp>
        </p:grpSp>
        <p:grpSp>
          <p:nvGrpSpPr>
            <p:cNvPr id="139" name="Group"/>
            <p:cNvGrpSpPr/>
            <p:nvPr/>
          </p:nvGrpSpPr>
          <p:grpSpPr>
            <a:xfrm>
              <a:off x="2103118" y="3394042"/>
              <a:ext cx="8412482" cy="957295"/>
              <a:chOff x="0" y="0"/>
              <a:chExt cx="8412480" cy="957293"/>
            </a:xfrm>
          </p:grpSpPr>
          <p:sp>
            <p:nvSpPr>
              <p:cNvPr id="137" name="Rounded Rectangle"/>
              <p:cNvSpPr/>
              <p:nvPr/>
            </p:nvSpPr>
            <p:spPr>
              <a:xfrm>
                <a:off x="0" y="0"/>
                <a:ext cx="8412481" cy="957294"/>
              </a:xfrm>
              <a:prstGeom prst="roundRect">
                <a:avLst>
                  <a:gd name="adj" fmla="val 10000"/>
                </a:avLst>
              </a:prstGeom>
              <a:solidFill>
                <a:schemeClr val="accent3"/>
              </a:solidFill>
              <a:ln w="190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800100">
                  <a:lnSpc>
                    <a:spcPct val="90000"/>
                  </a:lnSpc>
                  <a:spcBef>
                    <a:spcPts val="11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38" name="Foi usada a técnica de Holdout para estimar o desempenho e a eficácia de cada algoritmo ao demonstrar seus resultados."/>
              <p:cNvSpPr txBox="1"/>
              <p:nvPr/>
            </p:nvSpPr>
            <p:spPr>
              <a:xfrm>
                <a:off x="28038" y="144637"/>
                <a:ext cx="7029617" cy="6680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68580" tIns="68580" rIns="68580" bIns="68580" numCol="1" anchor="ctr">
                <a:spAutoFit/>
              </a:bodyPr>
              <a:lstStyle>
                <a:lvl1pPr defTabSz="8001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Foi usada a técnica de Holdout para estimar o desempenho e a eficácia de cada algoritmo ao demonstrar seus resultados.</a:t>
                </a:r>
              </a:p>
            </p:txBody>
          </p:sp>
        </p:grpSp>
        <p:sp>
          <p:nvSpPr>
            <p:cNvPr id="140" name="Shape"/>
            <p:cNvSpPr/>
            <p:nvPr/>
          </p:nvSpPr>
          <p:spPr>
            <a:xfrm>
              <a:off x="7790237" y="733200"/>
              <a:ext cx="622242" cy="6222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1880"/>
                  </a:moveTo>
                  <a:lnTo>
                    <a:pt x="4860" y="11880"/>
                  </a:lnTo>
                  <a:lnTo>
                    <a:pt x="4860" y="0"/>
                  </a:lnTo>
                  <a:lnTo>
                    <a:pt x="16740" y="0"/>
                  </a:lnTo>
                  <a:lnTo>
                    <a:pt x="16740" y="11880"/>
                  </a:lnTo>
                  <a:lnTo>
                    <a:pt x="21600" y="1188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F6D4CC">
                <a:alpha val="90000"/>
              </a:srgbClr>
            </a:solidFill>
            <a:ln w="19050" cap="flat">
              <a:solidFill>
                <a:srgbClr val="F6D4CC">
                  <a:alpha val="90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1244600">
                <a:lnSpc>
                  <a:spcPct val="90000"/>
                </a:lnSpc>
                <a:spcBef>
                  <a:spcPts val="1100"/>
                </a:spcBef>
                <a:defRPr sz="2800"/>
              </a:pPr>
            </a:p>
          </p:txBody>
        </p:sp>
        <p:sp>
          <p:nvSpPr>
            <p:cNvPr id="141" name="Shape"/>
            <p:cNvSpPr/>
            <p:nvPr/>
          </p:nvSpPr>
          <p:spPr>
            <a:xfrm>
              <a:off x="8494783" y="1864548"/>
              <a:ext cx="622242" cy="6222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1880"/>
                  </a:moveTo>
                  <a:lnTo>
                    <a:pt x="4860" y="11880"/>
                  </a:lnTo>
                  <a:lnTo>
                    <a:pt x="4860" y="0"/>
                  </a:lnTo>
                  <a:lnTo>
                    <a:pt x="16740" y="0"/>
                  </a:lnTo>
                  <a:lnTo>
                    <a:pt x="16740" y="11880"/>
                  </a:lnTo>
                  <a:lnTo>
                    <a:pt x="21600" y="1188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E4E8C9">
                <a:alpha val="90000"/>
              </a:srgbClr>
            </a:solidFill>
            <a:ln w="19050" cap="flat">
              <a:solidFill>
                <a:srgbClr val="E4E8C9">
                  <a:alpha val="90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1244600">
                <a:lnSpc>
                  <a:spcPct val="90000"/>
                </a:lnSpc>
                <a:spcBef>
                  <a:spcPts val="1100"/>
                </a:spcBef>
                <a:defRPr sz="2800"/>
              </a:pPr>
            </a:p>
          </p:txBody>
        </p:sp>
        <p:sp>
          <p:nvSpPr>
            <p:cNvPr id="142" name="Shape"/>
            <p:cNvSpPr/>
            <p:nvPr/>
          </p:nvSpPr>
          <p:spPr>
            <a:xfrm>
              <a:off x="9188812" y="2995896"/>
              <a:ext cx="622242" cy="6222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1880"/>
                  </a:moveTo>
                  <a:lnTo>
                    <a:pt x="4860" y="11880"/>
                  </a:lnTo>
                  <a:lnTo>
                    <a:pt x="4860" y="0"/>
                  </a:lnTo>
                  <a:lnTo>
                    <a:pt x="16740" y="0"/>
                  </a:lnTo>
                  <a:lnTo>
                    <a:pt x="16740" y="11880"/>
                  </a:lnTo>
                  <a:lnTo>
                    <a:pt x="21600" y="1188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CBD4CB">
                <a:alpha val="90000"/>
              </a:srgbClr>
            </a:solidFill>
            <a:ln w="19050" cap="flat">
              <a:solidFill>
                <a:srgbClr val="CBD4CB">
                  <a:alpha val="90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1244600">
                <a:lnSpc>
                  <a:spcPct val="90000"/>
                </a:lnSpc>
                <a:spcBef>
                  <a:spcPts val="1100"/>
                </a:spcBef>
                <a:defRPr sz="2800"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0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Título 12"/>
          <p:cNvSpPr txBox="1"/>
          <p:nvPr>
            <p:ph type="title"/>
          </p:nvPr>
        </p:nvSpPr>
        <p:spPr>
          <a:xfrm>
            <a:off x="630936" y="639519"/>
            <a:ext cx="3429001" cy="1719073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Regressão logística</a:t>
            </a:r>
          </a:p>
        </p:txBody>
      </p:sp>
      <p:grpSp>
        <p:nvGrpSpPr>
          <p:cNvPr id="149" name="sketch line"/>
          <p:cNvGrpSpPr/>
          <p:nvPr/>
        </p:nvGrpSpPr>
        <p:grpSpPr>
          <a:xfrm>
            <a:off x="643176" y="2558087"/>
            <a:ext cx="3255323" cy="46547"/>
            <a:chOff x="0" y="0"/>
            <a:chExt cx="3255321" cy="46546"/>
          </a:xfrm>
        </p:grpSpPr>
        <p:sp>
          <p:nvSpPr>
            <p:cNvPr id="147" name="Shape"/>
            <p:cNvSpPr/>
            <p:nvPr/>
          </p:nvSpPr>
          <p:spPr>
            <a:xfrm>
              <a:off x="101" y="4767"/>
              <a:ext cx="3255221" cy="39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13423" fill="norm" stroke="1" extrusionOk="0">
                  <a:moveTo>
                    <a:pt x="0" y="3696"/>
                  </a:moveTo>
                  <a:cubicBezTo>
                    <a:pt x="1937" y="10284"/>
                    <a:pt x="2410" y="6601"/>
                    <a:pt x="4104" y="3696"/>
                  </a:cubicBezTo>
                  <a:cubicBezTo>
                    <a:pt x="5798" y="791"/>
                    <a:pt x="6001" y="-2918"/>
                    <a:pt x="7775" y="3696"/>
                  </a:cubicBezTo>
                  <a:cubicBezTo>
                    <a:pt x="9549" y="10310"/>
                    <a:pt x="11574" y="7016"/>
                    <a:pt x="12527" y="3696"/>
                  </a:cubicBezTo>
                  <a:cubicBezTo>
                    <a:pt x="13479" y="376"/>
                    <a:pt x="15568" y="10898"/>
                    <a:pt x="16630" y="3696"/>
                  </a:cubicBezTo>
                  <a:cubicBezTo>
                    <a:pt x="17692" y="-3506"/>
                    <a:pt x="19840" y="14009"/>
                    <a:pt x="21597" y="3696"/>
                  </a:cubicBezTo>
                  <a:cubicBezTo>
                    <a:pt x="21596" y="5220"/>
                    <a:pt x="21600" y="6908"/>
                    <a:pt x="21597" y="9897"/>
                  </a:cubicBezTo>
                  <a:cubicBezTo>
                    <a:pt x="20706" y="9355"/>
                    <a:pt x="18310" y="18094"/>
                    <a:pt x="17278" y="9897"/>
                  </a:cubicBezTo>
                  <a:cubicBezTo>
                    <a:pt x="16246" y="1700"/>
                    <a:pt x="14493" y="10342"/>
                    <a:pt x="12527" y="9897"/>
                  </a:cubicBezTo>
                  <a:cubicBezTo>
                    <a:pt x="10560" y="9453"/>
                    <a:pt x="10277" y="6026"/>
                    <a:pt x="8855" y="9897"/>
                  </a:cubicBezTo>
                  <a:cubicBezTo>
                    <a:pt x="7433" y="13769"/>
                    <a:pt x="6609" y="6972"/>
                    <a:pt x="4535" y="9897"/>
                  </a:cubicBezTo>
                  <a:cubicBezTo>
                    <a:pt x="2462" y="12822"/>
                    <a:pt x="1318" y="9178"/>
                    <a:pt x="0" y="9897"/>
                  </a:cubicBezTo>
                  <a:cubicBezTo>
                    <a:pt x="6" y="6943"/>
                    <a:pt x="2" y="6036"/>
                    <a:pt x="0" y="3696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8" name="Shape"/>
            <p:cNvSpPr/>
            <p:nvPr/>
          </p:nvSpPr>
          <p:spPr>
            <a:xfrm>
              <a:off x="-1" y="0"/>
              <a:ext cx="3255198" cy="46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860" fill="norm" stroke="1" extrusionOk="0">
                  <a:moveTo>
                    <a:pt x="0" y="5002"/>
                  </a:moveTo>
                  <a:cubicBezTo>
                    <a:pt x="1594" y="-2061"/>
                    <a:pt x="3066" y="-1263"/>
                    <a:pt x="4104" y="5002"/>
                  </a:cubicBezTo>
                  <a:cubicBezTo>
                    <a:pt x="5142" y="11267"/>
                    <a:pt x="6468" y="5652"/>
                    <a:pt x="8424" y="5002"/>
                  </a:cubicBezTo>
                  <a:cubicBezTo>
                    <a:pt x="10380" y="4352"/>
                    <a:pt x="11503" y="8398"/>
                    <a:pt x="12960" y="5002"/>
                  </a:cubicBezTo>
                  <a:cubicBezTo>
                    <a:pt x="14416" y="1605"/>
                    <a:pt x="16283" y="9477"/>
                    <a:pt x="17495" y="5002"/>
                  </a:cubicBezTo>
                  <a:cubicBezTo>
                    <a:pt x="18707" y="527"/>
                    <a:pt x="20712" y="6725"/>
                    <a:pt x="21599" y="5002"/>
                  </a:cubicBezTo>
                  <a:cubicBezTo>
                    <a:pt x="21594" y="7606"/>
                    <a:pt x="21596" y="8873"/>
                    <a:pt x="21599" y="10840"/>
                  </a:cubicBezTo>
                  <a:cubicBezTo>
                    <a:pt x="20494" y="12409"/>
                    <a:pt x="17833" y="7370"/>
                    <a:pt x="16847" y="10840"/>
                  </a:cubicBezTo>
                  <a:cubicBezTo>
                    <a:pt x="15862" y="14310"/>
                    <a:pt x="14183" y="2142"/>
                    <a:pt x="12096" y="10840"/>
                  </a:cubicBezTo>
                  <a:cubicBezTo>
                    <a:pt x="10009" y="19539"/>
                    <a:pt x="9731" y="11510"/>
                    <a:pt x="7776" y="10840"/>
                  </a:cubicBezTo>
                  <a:cubicBezTo>
                    <a:pt x="5821" y="10171"/>
                    <a:pt x="3723" y="17019"/>
                    <a:pt x="0" y="10840"/>
                  </a:cubicBezTo>
                  <a:cubicBezTo>
                    <a:pt x="0" y="8987"/>
                    <a:pt x="-1" y="7074"/>
                    <a:pt x="0" y="5002"/>
                  </a:cubicBezTo>
                  <a:close/>
                </a:path>
              </a:pathLst>
            </a:custGeom>
            <a:noFill/>
            <a:ln w="38100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50" name="Espaço Reservado para Texto 14"/>
          <p:cNvSpPr txBox="1"/>
          <p:nvPr>
            <p:ph type="body" sz="quarter" idx="1"/>
          </p:nvPr>
        </p:nvSpPr>
        <p:spPr>
          <a:xfrm>
            <a:off x="630936" y="2807207"/>
            <a:ext cx="3429001" cy="3410713"/>
          </a:xfrm>
          <a:prstGeom prst="rect">
            <a:avLst/>
          </a:prstGeom>
        </p:spPr>
        <p:txBody>
          <a:bodyPr/>
          <a:lstStyle/>
          <a:p>
            <a:pPr indent="-228600">
              <a:buSzPct val="100000"/>
              <a:buFont typeface="Arial"/>
              <a:buChar char="•"/>
              <a:defRPr sz="2200"/>
            </a:pPr>
            <a:r>
              <a:t>Acurácia = 98% </a:t>
            </a:r>
          </a:p>
          <a:p>
            <a:pPr indent="-228600">
              <a:buSzPct val="100000"/>
              <a:buFont typeface="Arial"/>
              <a:buChar char="•"/>
              <a:defRPr sz="2200"/>
            </a:pPr>
            <a:r>
              <a:t>Precisão = 98%</a:t>
            </a:r>
          </a:p>
          <a:p>
            <a:pPr indent="-228600">
              <a:buSzPct val="100000"/>
              <a:buFont typeface="Arial"/>
              <a:buChar char="•"/>
              <a:defRPr sz="2200"/>
            </a:pPr>
            <a:r>
              <a:t>Sensibilidade = 99%. </a:t>
            </a:r>
          </a:p>
          <a:p>
            <a:pPr indent="-228600">
              <a:buSzPct val="100000"/>
              <a:buFont typeface="Arial"/>
              <a:buChar char="•"/>
              <a:defRPr sz="2200"/>
            </a:pPr>
            <a:r>
              <a:t>Especificidade = 15% </a:t>
            </a:r>
          </a:p>
        </p:txBody>
      </p:sp>
      <p:pic>
        <p:nvPicPr>
          <p:cNvPr id="15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46011" y="640080"/>
            <a:ext cx="6720290" cy="55778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20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Título 1"/>
          <p:cNvSpPr txBox="1"/>
          <p:nvPr>
            <p:ph type="title"/>
          </p:nvPr>
        </p:nvSpPr>
        <p:spPr>
          <a:xfrm>
            <a:off x="630936" y="639519"/>
            <a:ext cx="3429001" cy="1719073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Árvore de decisão</a:t>
            </a:r>
          </a:p>
        </p:txBody>
      </p:sp>
      <p:grpSp>
        <p:nvGrpSpPr>
          <p:cNvPr id="157" name="sketch line"/>
          <p:cNvGrpSpPr/>
          <p:nvPr/>
        </p:nvGrpSpPr>
        <p:grpSpPr>
          <a:xfrm>
            <a:off x="643176" y="2558087"/>
            <a:ext cx="3255323" cy="46547"/>
            <a:chOff x="0" y="0"/>
            <a:chExt cx="3255321" cy="46546"/>
          </a:xfrm>
        </p:grpSpPr>
        <p:sp>
          <p:nvSpPr>
            <p:cNvPr id="155" name="Shape"/>
            <p:cNvSpPr/>
            <p:nvPr/>
          </p:nvSpPr>
          <p:spPr>
            <a:xfrm>
              <a:off x="101" y="4767"/>
              <a:ext cx="3255221" cy="39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13423" fill="norm" stroke="1" extrusionOk="0">
                  <a:moveTo>
                    <a:pt x="0" y="3696"/>
                  </a:moveTo>
                  <a:cubicBezTo>
                    <a:pt x="1937" y="10284"/>
                    <a:pt x="2410" y="6601"/>
                    <a:pt x="4104" y="3696"/>
                  </a:cubicBezTo>
                  <a:cubicBezTo>
                    <a:pt x="5798" y="791"/>
                    <a:pt x="6001" y="-2918"/>
                    <a:pt x="7775" y="3696"/>
                  </a:cubicBezTo>
                  <a:cubicBezTo>
                    <a:pt x="9549" y="10310"/>
                    <a:pt x="11574" y="7016"/>
                    <a:pt x="12527" y="3696"/>
                  </a:cubicBezTo>
                  <a:cubicBezTo>
                    <a:pt x="13479" y="376"/>
                    <a:pt x="15568" y="10898"/>
                    <a:pt x="16630" y="3696"/>
                  </a:cubicBezTo>
                  <a:cubicBezTo>
                    <a:pt x="17692" y="-3506"/>
                    <a:pt x="19840" y="14009"/>
                    <a:pt x="21597" y="3696"/>
                  </a:cubicBezTo>
                  <a:cubicBezTo>
                    <a:pt x="21596" y="5220"/>
                    <a:pt x="21600" y="6908"/>
                    <a:pt x="21597" y="9897"/>
                  </a:cubicBezTo>
                  <a:cubicBezTo>
                    <a:pt x="20706" y="9355"/>
                    <a:pt x="18310" y="18094"/>
                    <a:pt x="17278" y="9897"/>
                  </a:cubicBezTo>
                  <a:cubicBezTo>
                    <a:pt x="16246" y="1700"/>
                    <a:pt x="14493" y="10342"/>
                    <a:pt x="12527" y="9897"/>
                  </a:cubicBezTo>
                  <a:cubicBezTo>
                    <a:pt x="10560" y="9453"/>
                    <a:pt x="10277" y="6026"/>
                    <a:pt x="8855" y="9897"/>
                  </a:cubicBezTo>
                  <a:cubicBezTo>
                    <a:pt x="7433" y="13769"/>
                    <a:pt x="6609" y="6972"/>
                    <a:pt x="4535" y="9897"/>
                  </a:cubicBezTo>
                  <a:cubicBezTo>
                    <a:pt x="2462" y="12822"/>
                    <a:pt x="1318" y="9178"/>
                    <a:pt x="0" y="9897"/>
                  </a:cubicBezTo>
                  <a:cubicBezTo>
                    <a:pt x="6" y="6943"/>
                    <a:pt x="2" y="6036"/>
                    <a:pt x="0" y="3696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6" name="Shape"/>
            <p:cNvSpPr/>
            <p:nvPr/>
          </p:nvSpPr>
          <p:spPr>
            <a:xfrm>
              <a:off x="-1" y="0"/>
              <a:ext cx="3255198" cy="46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860" fill="norm" stroke="1" extrusionOk="0">
                  <a:moveTo>
                    <a:pt x="0" y="5002"/>
                  </a:moveTo>
                  <a:cubicBezTo>
                    <a:pt x="1594" y="-2061"/>
                    <a:pt x="3066" y="-1263"/>
                    <a:pt x="4104" y="5002"/>
                  </a:cubicBezTo>
                  <a:cubicBezTo>
                    <a:pt x="5142" y="11267"/>
                    <a:pt x="6468" y="5652"/>
                    <a:pt x="8424" y="5002"/>
                  </a:cubicBezTo>
                  <a:cubicBezTo>
                    <a:pt x="10380" y="4352"/>
                    <a:pt x="11503" y="8398"/>
                    <a:pt x="12960" y="5002"/>
                  </a:cubicBezTo>
                  <a:cubicBezTo>
                    <a:pt x="14416" y="1605"/>
                    <a:pt x="16283" y="9477"/>
                    <a:pt x="17495" y="5002"/>
                  </a:cubicBezTo>
                  <a:cubicBezTo>
                    <a:pt x="18707" y="527"/>
                    <a:pt x="20712" y="6725"/>
                    <a:pt x="21599" y="5002"/>
                  </a:cubicBezTo>
                  <a:cubicBezTo>
                    <a:pt x="21594" y="7606"/>
                    <a:pt x="21596" y="8873"/>
                    <a:pt x="21599" y="10840"/>
                  </a:cubicBezTo>
                  <a:cubicBezTo>
                    <a:pt x="20494" y="12409"/>
                    <a:pt x="17833" y="7370"/>
                    <a:pt x="16847" y="10840"/>
                  </a:cubicBezTo>
                  <a:cubicBezTo>
                    <a:pt x="15862" y="14310"/>
                    <a:pt x="14183" y="2142"/>
                    <a:pt x="12096" y="10840"/>
                  </a:cubicBezTo>
                  <a:cubicBezTo>
                    <a:pt x="10009" y="19539"/>
                    <a:pt x="9731" y="11510"/>
                    <a:pt x="7776" y="10840"/>
                  </a:cubicBezTo>
                  <a:cubicBezTo>
                    <a:pt x="5821" y="10171"/>
                    <a:pt x="3723" y="17019"/>
                    <a:pt x="0" y="10840"/>
                  </a:cubicBezTo>
                  <a:cubicBezTo>
                    <a:pt x="0" y="8987"/>
                    <a:pt x="-1" y="7074"/>
                    <a:pt x="0" y="5002"/>
                  </a:cubicBezTo>
                  <a:close/>
                </a:path>
              </a:pathLst>
            </a:custGeom>
            <a:noFill/>
            <a:ln w="38100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58" name="Espaço Reservado para Texto 3"/>
          <p:cNvSpPr txBox="1"/>
          <p:nvPr>
            <p:ph type="body" sz="quarter" idx="1"/>
          </p:nvPr>
        </p:nvSpPr>
        <p:spPr>
          <a:xfrm>
            <a:off x="630936" y="2807207"/>
            <a:ext cx="3429001" cy="3410713"/>
          </a:xfrm>
          <a:prstGeom prst="rect">
            <a:avLst/>
          </a:prstGeom>
        </p:spPr>
        <p:txBody>
          <a:bodyPr/>
          <a:lstStyle/>
          <a:p>
            <a:pPr indent="-228600">
              <a:buSzPct val="100000"/>
              <a:buFont typeface="Arial"/>
              <a:buChar char="•"/>
              <a:defRPr sz="2200"/>
            </a:pPr>
            <a:r>
              <a:t>Acurácia = 98% </a:t>
            </a:r>
          </a:p>
          <a:p>
            <a:pPr indent="-228600">
              <a:buSzPct val="100000"/>
              <a:buFont typeface="Arial"/>
              <a:buChar char="•"/>
              <a:defRPr sz="2200"/>
            </a:pPr>
            <a:r>
              <a:t>Precisão = 99% </a:t>
            </a:r>
          </a:p>
          <a:p>
            <a:pPr indent="-228600">
              <a:buSzPct val="100000"/>
              <a:buFont typeface="Arial"/>
              <a:buChar char="•"/>
              <a:defRPr sz="2200"/>
            </a:pPr>
            <a:r>
              <a:t>Sensibilidade = 99% </a:t>
            </a:r>
          </a:p>
          <a:p>
            <a:pPr indent="-228600">
              <a:buSzPct val="100000"/>
              <a:buFont typeface="Arial"/>
              <a:buChar char="•"/>
              <a:defRPr sz="2200"/>
            </a:pPr>
            <a:r>
              <a:t>Especificidade = 3%</a:t>
            </a:r>
          </a:p>
        </p:txBody>
      </p:sp>
      <p:pic>
        <p:nvPicPr>
          <p:cNvPr id="15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46011" y="640080"/>
            <a:ext cx="6720290" cy="55778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12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307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Título 1"/>
          <p:cNvSpPr txBox="1"/>
          <p:nvPr>
            <p:ph type="title"/>
          </p:nvPr>
        </p:nvSpPr>
        <p:spPr>
          <a:xfrm>
            <a:off x="630936" y="639519"/>
            <a:ext cx="3429001" cy="1719073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Random forest</a:t>
            </a:r>
          </a:p>
        </p:txBody>
      </p:sp>
      <p:grpSp>
        <p:nvGrpSpPr>
          <p:cNvPr id="165" name="sketch line"/>
          <p:cNvGrpSpPr/>
          <p:nvPr/>
        </p:nvGrpSpPr>
        <p:grpSpPr>
          <a:xfrm>
            <a:off x="643176" y="2558087"/>
            <a:ext cx="3255323" cy="46547"/>
            <a:chOff x="0" y="0"/>
            <a:chExt cx="3255321" cy="46546"/>
          </a:xfrm>
        </p:grpSpPr>
        <p:sp>
          <p:nvSpPr>
            <p:cNvPr id="163" name="Shape"/>
            <p:cNvSpPr/>
            <p:nvPr/>
          </p:nvSpPr>
          <p:spPr>
            <a:xfrm>
              <a:off x="101" y="4767"/>
              <a:ext cx="3255221" cy="39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13423" fill="norm" stroke="1" extrusionOk="0">
                  <a:moveTo>
                    <a:pt x="0" y="3696"/>
                  </a:moveTo>
                  <a:cubicBezTo>
                    <a:pt x="1937" y="10284"/>
                    <a:pt x="2410" y="6601"/>
                    <a:pt x="4104" y="3696"/>
                  </a:cubicBezTo>
                  <a:cubicBezTo>
                    <a:pt x="5798" y="791"/>
                    <a:pt x="6001" y="-2918"/>
                    <a:pt x="7775" y="3696"/>
                  </a:cubicBezTo>
                  <a:cubicBezTo>
                    <a:pt x="9549" y="10310"/>
                    <a:pt x="11574" y="7016"/>
                    <a:pt x="12527" y="3696"/>
                  </a:cubicBezTo>
                  <a:cubicBezTo>
                    <a:pt x="13479" y="376"/>
                    <a:pt x="15568" y="10898"/>
                    <a:pt x="16630" y="3696"/>
                  </a:cubicBezTo>
                  <a:cubicBezTo>
                    <a:pt x="17692" y="-3506"/>
                    <a:pt x="19840" y="14009"/>
                    <a:pt x="21597" y="3696"/>
                  </a:cubicBezTo>
                  <a:cubicBezTo>
                    <a:pt x="21596" y="5220"/>
                    <a:pt x="21600" y="6908"/>
                    <a:pt x="21597" y="9897"/>
                  </a:cubicBezTo>
                  <a:cubicBezTo>
                    <a:pt x="20706" y="9355"/>
                    <a:pt x="18310" y="18094"/>
                    <a:pt x="17278" y="9897"/>
                  </a:cubicBezTo>
                  <a:cubicBezTo>
                    <a:pt x="16246" y="1700"/>
                    <a:pt x="14493" y="10342"/>
                    <a:pt x="12527" y="9897"/>
                  </a:cubicBezTo>
                  <a:cubicBezTo>
                    <a:pt x="10560" y="9453"/>
                    <a:pt x="10277" y="6026"/>
                    <a:pt x="8855" y="9897"/>
                  </a:cubicBezTo>
                  <a:cubicBezTo>
                    <a:pt x="7433" y="13769"/>
                    <a:pt x="6609" y="6972"/>
                    <a:pt x="4535" y="9897"/>
                  </a:cubicBezTo>
                  <a:cubicBezTo>
                    <a:pt x="2462" y="12822"/>
                    <a:pt x="1318" y="9178"/>
                    <a:pt x="0" y="9897"/>
                  </a:cubicBezTo>
                  <a:cubicBezTo>
                    <a:pt x="6" y="6943"/>
                    <a:pt x="2" y="6036"/>
                    <a:pt x="0" y="3696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4" name="Shape"/>
            <p:cNvSpPr/>
            <p:nvPr/>
          </p:nvSpPr>
          <p:spPr>
            <a:xfrm>
              <a:off x="-1" y="0"/>
              <a:ext cx="3255198" cy="46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860" fill="norm" stroke="1" extrusionOk="0">
                  <a:moveTo>
                    <a:pt x="0" y="5002"/>
                  </a:moveTo>
                  <a:cubicBezTo>
                    <a:pt x="1594" y="-2061"/>
                    <a:pt x="3066" y="-1263"/>
                    <a:pt x="4104" y="5002"/>
                  </a:cubicBezTo>
                  <a:cubicBezTo>
                    <a:pt x="5142" y="11267"/>
                    <a:pt x="6468" y="5652"/>
                    <a:pt x="8424" y="5002"/>
                  </a:cubicBezTo>
                  <a:cubicBezTo>
                    <a:pt x="10380" y="4352"/>
                    <a:pt x="11503" y="8398"/>
                    <a:pt x="12960" y="5002"/>
                  </a:cubicBezTo>
                  <a:cubicBezTo>
                    <a:pt x="14416" y="1605"/>
                    <a:pt x="16283" y="9477"/>
                    <a:pt x="17495" y="5002"/>
                  </a:cubicBezTo>
                  <a:cubicBezTo>
                    <a:pt x="18707" y="527"/>
                    <a:pt x="20712" y="6725"/>
                    <a:pt x="21599" y="5002"/>
                  </a:cubicBezTo>
                  <a:cubicBezTo>
                    <a:pt x="21594" y="7606"/>
                    <a:pt x="21596" y="8873"/>
                    <a:pt x="21599" y="10840"/>
                  </a:cubicBezTo>
                  <a:cubicBezTo>
                    <a:pt x="20494" y="12409"/>
                    <a:pt x="17833" y="7370"/>
                    <a:pt x="16847" y="10840"/>
                  </a:cubicBezTo>
                  <a:cubicBezTo>
                    <a:pt x="15862" y="14310"/>
                    <a:pt x="14183" y="2142"/>
                    <a:pt x="12096" y="10840"/>
                  </a:cubicBezTo>
                  <a:cubicBezTo>
                    <a:pt x="10009" y="19539"/>
                    <a:pt x="9731" y="11510"/>
                    <a:pt x="7776" y="10840"/>
                  </a:cubicBezTo>
                  <a:cubicBezTo>
                    <a:pt x="5821" y="10171"/>
                    <a:pt x="3723" y="17019"/>
                    <a:pt x="0" y="10840"/>
                  </a:cubicBezTo>
                  <a:cubicBezTo>
                    <a:pt x="0" y="8987"/>
                    <a:pt x="-1" y="7074"/>
                    <a:pt x="0" y="5002"/>
                  </a:cubicBezTo>
                  <a:close/>
                </a:path>
              </a:pathLst>
            </a:custGeom>
            <a:noFill/>
            <a:ln w="38100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66" name="Espaço Reservado para Texto 3"/>
          <p:cNvSpPr txBox="1"/>
          <p:nvPr>
            <p:ph type="body" sz="quarter" idx="1"/>
          </p:nvPr>
        </p:nvSpPr>
        <p:spPr>
          <a:xfrm>
            <a:off x="630936" y="2807207"/>
            <a:ext cx="3429001" cy="3410713"/>
          </a:xfrm>
          <a:prstGeom prst="rect">
            <a:avLst/>
          </a:prstGeom>
        </p:spPr>
        <p:txBody>
          <a:bodyPr/>
          <a:lstStyle/>
          <a:p>
            <a:pPr indent="-228600">
              <a:buSzPct val="100000"/>
              <a:buFont typeface="Arial"/>
              <a:buChar char="•"/>
              <a:defRPr sz="2200"/>
            </a:pPr>
            <a:r>
              <a:t>Acurácia = 99% </a:t>
            </a:r>
          </a:p>
          <a:p>
            <a:pPr indent="-228600">
              <a:buSzPct val="100000"/>
              <a:buFont typeface="Arial"/>
              <a:buChar char="•"/>
              <a:defRPr sz="2200"/>
            </a:pPr>
            <a:r>
              <a:t>Precisão = 98% </a:t>
            </a:r>
          </a:p>
          <a:p>
            <a:pPr indent="-228600">
              <a:buSzPct val="100000"/>
              <a:buFont typeface="Arial"/>
              <a:buChar char="•"/>
              <a:defRPr sz="2200"/>
            </a:pPr>
            <a:r>
              <a:t>Sensibilidade = 99%</a:t>
            </a:r>
          </a:p>
          <a:p>
            <a:pPr indent="-228600">
              <a:buSzPct val="100000"/>
              <a:buFont typeface="Arial"/>
              <a:buChar char="•"/>
              <a:defRPr sz="2200"/>
            </a:pPr>
            <a:r>
              <a:t>Especificidade = 11% </a:t>
            </a:r>
          </a:p>
        </p:txBody>
      </p:sp>
      <p:pic>
        <p:nvPicPr>
          <p:cNvPr id="16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46011" y="640080"/>
            <a:ext cx="6720290" cy="55778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410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Título 1"/>
          <p:cNvSpPr txBox="1"/>
          <p:nvPr>
            <p:ph type="title"/>
          </p:nvPr>
        </p:nvSpPr>
        <p:spPr>
          <a:xfrm>
            <a:off x="630936" y="639519"/>
            <a:ext cx="3429001" cy="1719073"/>
          </a:xfrm>
          <a:prstGeom prst="rect">
            <a:avLst/>
          </a:prstGeom>
        </p:spPr>
        <p:txBody>
          <a:bodyPr/>
          <a:lstStyle>
            <a:lvl1pPr defTabSz="859536">
              <a:defRPr sz="3948"/>
            </a:lvl1pPr>
          </a:lstStyle>
          <a:p>
            <a:pPr/>
            <a:r>
              <a:t>Suporte Vector Machine</a:t>
            </a:r>
          </a:p>
        </p:txBody>
      </p:sp>
      <p:grpSp>
        <p:nvGrpSpPr>
          <p:cNvPr id="173" name="sketch line"/>
          <p:cNvGrpSpPr/>
          <p:nvPr/>
        </p:nvGrpSpPr>
        <p:grpSpPr>
          <a:xfrm>
            <a:off x="643176" y="2558087"/>
            <a:ext cx="3255323" cy="46547"/>
            <a:chOff x="0" y="0"/>
            <a:chExt cx="3255321" cy="46546"/>
          </a:xfrm>
        </p:grpSpPr>
        <p:sp>
          <p:nvSpPr>
            <p:cNvPr id="171" name="Shape"/>
            <p:cNvSpPr/>
            <p:nvPr/>
          </p:nvSpPr>
          <p:spPr>
            <a:xfrm>
              <a:off x="101" y="4767"/>
              <a:ext cx="3255221" cy="39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13423" fill="norm" stroke="1" extrusionOk="0">
                  <a:moveTo>
                    <a:pt x="0" y="3696"/>
                  </a:moveTo>
                  <a:cubicBezTo>
                    <a:pt x="1937" y="10284"/>
                    <a:pt x="2410" y="6601"/>
                    <a:pt x="4104" y="3696"/>
                  </a:cubicBezTo>
                  <a:cubicBezTo>
                    <a:pt x="5798" y="791"/>
                    <a:pt x="6001" y="-2918"/>
                    <a:pt x="7775" y="3696"/>
                  </a:cubicBezTo>
                  <a:cubicBezTo>
                    <a:pt x="9549" y="10310"/>
                    <a:pt x="11574" y="7016"/>
                    <a:pt x="12527" y="3696"/>
                  </a:cubicBezTo>
                  <a:cubicBezTo>
                    <a:pt x="13479" y="376"/>
                    <a:pt x="15568" y="10898"/>
                    <a:pt x="16630" y="3696"/>
                  </a:cubicBezTo>
                  <a:cubicBezTo>
                    <a:pt x="17692" y="-3506"/>
                    <a:pt x="19840" y="14009"/>
                    <a:pt x="21597" y="3696"/>
                  </a:cubicBezTo>
                  <a:cubicBezTo>
                    <a:pt x="21596" y="5220"/>
                    <a:pt x="21600" y="6908"/>
                    <a:pt x="21597" y="9897"/>
                  </a:cubicBezTo>
                  <a:cubicBezTo>
                    <a:pt x="20706" y="9355"/>
                    <a:pt x="18310" y="18094"/>
                    <a:pt x="17278" y="9897"/>
                  </a:cubicBezTo>
                  <a:cubicBezTo>
                    <a:pt x="16246" y="1700"/>
                    <a:pt x="14493" y="10342"/>
                    <a:pt x="12527" y="9897"/>
                  </a:cubicBezTo>
                  <a:cubicBezTo>
                    <a:pt x="10560" y="9453"/>
                    <a:pt x="10277" y="6026"/>
                    <a:pt x="8855" y="9897"/>
                  </a:cubicBezTo>
                  <a:cubicBezTo>
                    <a:pt x="7433" y="13769"/>
                    <a:pt x="6609" y="6972"/>
                    <a:pt x="4535" y="9897"/>
                  </a:cubicBezTo>
                  <a:cubicBezTo>
                    <a:pt x="2462" y="12822"/>
                    <a:pt x="1318" y="9178"/>
                    <a:pt x="0" y="9897"/>
                  </a:cubicBezTo>
                  <a:cubicBezTo>
                    <a:pt x="6" y="6943"/>
                    <a:pt x="2" y="6036"/>
                    <a:pt x="0" y="3696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2" name="Shape"/>
            <p:cNvSpPr/>
            <p:nvPr/>
          </p:nvSpPr>
          <p:spPr>
            <a:xfrm>
              <a:off x="-1" y="0"/>
              <a:ext cx="3255198" cy="46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860" fill="norm" stroke="1" extrusionOk="0">
                  <a:moveTo>
                    <a:pt x="0" y="5002"/>
                  </a:moveTo>
                  <a:cubicBezTo>
                    <a:pt x="1594" y="-2061"/>
                    <a:pt x="3066" y="-1263"/>
                    <a:pt x="4104" y="5002"/>
                  </a:cubicBezTo>
                  <a:cubicBezTo>
                    <a:pt x="5142" y="11267"/>
                    <a:pt x="6468" y="5652"/>
                    <a:pt x="8424" y="5002"/>
                  </a:cubicBezTo>
                  <a:cubicBezTo>
                    <a:pt x="10380" y="4352"/>
                    <a:pt x="11503" y="8398"/>
                    <a:pt x="12960" y="5002"/>
                  </a:cubicBezTo>
                  <a:cubicBezTo>
                    <a:pt x="14416" y="1605"/>
                    <a:pt x="16283" y="9477"/>
                    <a:pt x="17495" y="5002"/>
                  </a:cubicBezTo>
                  <a:cubicBezTo>
                    <a:pt x="18707" y="527"/>
                    <a:pt x="20712" y="6725"/>
                    <a:pt x="21599" y="5002"/>
                  </a:cubicBezTo>
                  <a:cubicBezTo>
                    <a:pt x="21594" y="7606"/>
                    <a:pt x="21596" y="8873"/>
                    <a:pt x="21599" y="10840"/>
                  </a:cubicBezTo>
                  <a:cubicBezTo>
                    <a:pt x="20494" y="12409"/>
                    <a:pt x="17833" y="7370"/>
                    <a:pt x="16847" y="10840"/>
                  </a:cubicBezTo>
                  <a:cubicBezTo>
                    <a:pt x="15862" y="14310"/>
                    <a:pt x="14183" y="2142"/>
                    <a:pt x="12096" y="10840"/>
                  </a:cubicBezTo>
                  <a:cubicBezTo>
                    <a:pt x="10009" y="19539"/>
                    <a:pt x="9731" y="11510"/>
                    <a:pt x="7776" y="10840"/>
                  </a:cubicBezTo>
                  <a:cubicBezTo>
                    <a:pt x="5821" y="10171"/>
                    <a:pt x="3723" y="17019"/>
                    <a:pt x="0" y="10840"/>
                  </a:cubicBezTo>
                  <a:cubicBezTo>
                    <a:pt x="0" y="8987"/>
                    <a:pt x="-1" y="7074"/>
                    <a:pt x="0" y="5002"/>
                  </a:cubicBezTo>
                  <a:close/>
                </a:path>
              </a:pathLst>
            </a:custGeom>
            <a:noFill/>
            <a:ln w="38100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74" name="Espaço Reservado para Texto 3"/>
          <p:cNvSpPr txBox="1"/>
          <p:nvPr>
            <p:ph type="body" sz="quarter" idx="1"/>
          </p:nvPr>
        </p:nvSpPr>
        <p:spPr>
          <a:xfrm>
            <a:off x="630936" y="2807207"/>
            <a:ext cx="3429001" cy="3410713"/>
          </a:xfrm>
          <a:prstGeom prst="rect">
            <a:avLst/>
          </a:prstGeom>
        </p:spPr>
        <p:txBody>
          <a:bodyPr/>
          <a:lstStyle/>
          <a:p>
            <a:pPr indent="-228600">
              <a:buSzPct val="100000"/>
              <a:buFont typeface="Arial"/>
              <a:buChar char="•"/>
              <a:defRPr sz="2200"/>
            </a:pPr>
            <a:r>
              <a:t>Acurácia = 99% </a:t>
            </a:r>
          </a:p>
          <a:p>
            <a:pPr indent="-228600">
              <a:buSzPct val="100000"/>
              <a:buFont typeface="Arial"/>
              <a:buChar char="•"/>
              <a:defRPr sz="2200"/>
            </a:pPr>
            <a:r>
              <a:t>Precisão: = 99% </a:t>
            </a:r>
          </a:p>
          <a:p>
            <a:pPr indent="-228600">
              <a:buSzPct val="100000"/>
              <a:buFont typeface="Arial"/>
              <a:buChar char="•"/>
              <a:defRPr sz="2200"/>
            </a:pPr>
            <a:r>
              <a:t>Sensibilidade = 99%</a:t>
            </a:r>
          </a:p>
          <a:p>
            <a:pPr indent="-228600">
              <a:buSzPct val="100000"/>
              <a:buFont typeface="Arial"/>
              <a:buChar char="•"/>
              <a:defRPr sz="2200"/>
            </a:pPr>
            <a:r>
              <a:t>Especificidade = 5%</a:t>
            </a:r>
          </a:p>
        </p:txBody>
      </p:sp>
      <p:pic>
        <p:nvPicPr>
          <p:cNvPr id="17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46011" y="640080"/>
            <a:ext cx="6720290" cy="55778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12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51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" name="Título 1"/>
          <p:cNvSpPr txBox="1"/>
          <p:nvPr>
            <p:ph type="title"/>
          </p:nvPr>
        </p:nvSpPr>
        <p:spPr>
          <a:xfrm>
            <a:off x="630936" y="639519"/>
            <a:ext cx="3429001" cy="1719073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k-Nearest Neighbors</a:t>
            </a:r>
          </a:p>
        </p:txBody>
      </p:sp>
      <p:grpSp>
        <p:nvGrpSpPr>
          <p:cNvPr id="181" name="sketch line"/>
          <p:cNvGrpSpPr/>
          <p:nvPr/>
        </p:nvGrpSpPr>
        <p:grpSpPr>
          <a:xfrm>
            <a:off x="643176" y="2558087"/>
            <a:ext cx="3255323" cy="46547"/>
            <a:chOff x="0" y="0"/>
            <a:chExt cx="3255321" cy="46546"/>
          </a:xfrm>
        </p:grpSpPr>
        <p:sp>
          <p:nvSpPr>
            <p:cNvPr id="179" name="Shape"/>
            <p:cNvSpPr/>
            <p:nvPr/>
          </p:nvSpPr>
          <p:spPr>
            <a:xfrm>
              <a:off x="101" y="4767"/>
              <a:ext cx="3255221" cy="39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13423" fill="norm" stroke="1" extrusionOk="0">
                  <a:moveTo>
                    <a:pt x="0" y="3696"/>
                  </a:moveTo>
                  <a:cubicBezTo>
                    <a:pt x="1937" y="10284"/>
                    <a:pt x="2410" y="6601"/>
                    <a:pt x="4104" y="3696"/>
                  </a:cubicBezTo>
                  <a:cubicBezTo>
                    <a:pt x="5798" y="791"/>
                    <a:pt x="6001" y="-2918"/>
                    <a:pt x="7775" y="3696"/>
                  </a:cubicBezTo>
                  <a:cubicBezTo>
                    <a:pt x="9549" y="10310"/>
                    <a:pt x="11574" y="7016"/>
                    <a:pt x="12527" y="3696"/>
                  </a:cubicBezTo>
                  <a:cubicBezTo>
                    <a:pt x="13479" y="376"/>
                    <a:pt x="15568" y="10898"/>
                    <a:pt x="16630" y="3696"/>
                  </a:cubicBezTo>
                  <a:cubicBezTo>
                    <a:pt x="17692" y="-3506"/>
                    <a:pt x="19840" y="14009"/>
                    <a:pt x="21597" y="3696"/>
                  </a:cubicBezTo>
                  <a:cubicBezTo>
                    <a:pt x="21596" y="5220"/>
                    <a:pt x="21600" y="6908"/>
                    <a:pt x="21597" y="9897"/>
                  </a:cubicBezTo>
                  <a:cubicBezTo>
                    <a:pt x="20706" y="9355"/>
                    <a:pt x="18310" y="18094"/>
                    <a:pt x="17278" y="9897"/>
                  </a:cubicBezTo>
                  <a:cubicBezTo>
                    <a:pt x="16246" y="1700"/>
                    <a:pt x="14493" y="10342"/>
                    <a:pt x="12527" y="9897"/>
                  </a:cubicBezTo>
                  <a:cubicBezTo>
                    <a:pt x="10560" y="9453"/>
                    <a:pt x="10277" y="6026"/>
                    <a:pt x="8855" y="9897"/>
                  </a:cubicBezTo>
                  <a:cubicBezTo>
                    <a:pt x="7433" y="13769"/>
                    <a:pt x="6609" y="6972"/>
                    <a:pt x="4535" y="9897"/>
                  </a:cubicBezTo>
                  <a:cubicBezTo>
                    <a:pt x="2462" y="12822"/>
                    <a:pt x="1318" y="9178"/>
                    <a:pt x="0" y="9897"/>
                  </a:cubicBezTo>
                  <a:cubicBezTo>
                    <a:pt x="6" y="6943"/>
                    <a:pt x="2" y="6036"/>
                    <a:pt x="0" y="3696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0" name="Shape"/>
            <p:cNvSpPr/>
            <p:nvPr/>
          </p:nvSpPr>
          <p:spPr>
            <a:xfrm>
              <a:off x="-1" y="0"/>
              <a:ext cx="3255198" cy="46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860" fill="norm" stroke="1" extrusionOk="0">
                  <a:moveTo>
                    <a:pt x="0" y="5002"/>
                  </a:moveTo>
                  <a:cubicBezTo>
                    <a:pt x="1594" y="-2061"/>
                    <a:pt x="3066" y="-1263"/>
                    <a:pt x="4104" y="5002"/>
                  </a:cubicBezTo>
                  <a:cubicBezTo>
                    <a:pt x="5142" y="11267"/>
                    <a:pt x="6468" y="5652"/>
                    <a:pt x="8424" y="5002"/>
                  </a:cubicBezTo>
                  <a:cubicBezTo>
                    <a:pt x="10380" y="4352"/>
                    <a:pt x="11503" y="8398"/>
                    <a:pt x="12960" y="5002"/>
                  </a:cubicBezTo>
                  <a:cubicBezTo>
                    <a:pt x="14416" y="1605"/>
                    <a:pt x="16283" y="9477"/>
                    <a:pt x="17495" y="5002"/>
                  </a:cubicBezTo>
                  <a:cubicBezTo>
                    <a:pt x="18707" y="527"/>
                    <a:pt x="20712" y="6725"/>
                    <a:pt x="21599" y="5002"/>
                  </a:cubicBezTo>
                  <a:cubicBezTo>
                    <a:pt x="21594" y="7606"/>
                    <a:pt x="21596" y="8873"/>
                    <a:pt x="21599" y="10840"/>
                  </a:cubicBezTo>
                  <a:cubicBezTo>
                    <a:pt x="20494" y="12409"/>
                    <a:pt x="17833" y="7370"/>
                    <a:pt x="16847" y="10840"/>
                  </a:cubicBezTo>
                  <a:cubicBezTo>
                    <a:pt x="15862" y="14310"/>
                    <a:pt x="14183" y="2142"/>
                    <a:pt x="12096" y="10840"/>
                  </a:cubicBezTo>
                  <a:cubicBezTo>
                    <a:pt x="10009" y="19539"/>
                    <a:pt x="9731" y="11510"/>
                    <a:pt x="7776" y="10840"/>
                  </a:cubicBezTo>
                  <a:cubicBezTo>
                    <a:pt x="5821" y="10171"/>
                    <a:pt x="3723" y="17019"/>
                    <a:pt x="0" y="10840"/>
                  </a:cubicBezTo>
                  <a:cubicBezTo>
                    <a:pt x="0" y="8987"/>
                    <a:pt x="-1" y="7074"/>
                    <a:pt x="0" y="5002"/>
                  </a:cubicBezTo>
                  <a:close/>
                </a:path>
              </a:pathLst>
            </a:custGeom>
            <a:noFill/>
            <a:ln w="38100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82" name="Espaço Reservado para Texto 3"/>
          <p:cNvSpPr txBox="1"/>
          <p:nvPr>
            <p:ph type="body" sz="quarter" idx="1"/>
          </p:nvPr>
        </p:nvSpPr>
        <p:spPr>
          <a:xfrm>
            <a:off x="630936" y="2807207"/>
            <a:ext cx="3429001" cy="3410713"/>
          </a:xfrm>
          <a:prstGeom prst="rect">
            <a:avLst/>
          </a:prstGeom>
        </p:spPr>
        <p:txBody>
          <a:bodyPr/>
          <a:lstStyle/>
          <a:p>
            <a:pPr indent="-228600">
              <a:buSzPct val="100000"/>
              <a:buFont typeface="Arial"/>
              <a:buChar char="•"/>
              <a:defRPr sz="2200"/>
            </a:pPr>
            <a:r>
              <a:t>Acurácia = 60% </a:t>
            </a:r>
          </a:p>
          <a:p>
            <a:pPr indent="-228600">
              <a:buSzPct val="100000"/>
              <a:buFont typeface="Arial"/>
              <a:buChar char="•"/>
              <a:defRPr sz="2200"/>
            </a:pPr>
            <a:r>
              <a:t>Precisão = 99% </a:t>
            </a:r>
          </a:p>
          <a:p>
            <a:pPr indent="-228600">
              <a:buSzPct val="100000"/>
              <a:buFont typeface="Arial"/>
              <a:buChar char="•"/>
              <a:defRPr sz="2200"/>
            </a:pPr>
            <a:r>
              <a:t>Sensibilidade = 57%</a:t>
            </a:r>
          </a:p>
          <a:p>
            <a:pPr indent="-228600">
              <a:buSzPct val="100000"/>
              <a:buFont typeface="Arial"/>
              <a:buChar char="•"/>
              <a:defRPr sz="2200"/>
            </a:pPr>
            <a:r>
              <a:t>Especificidade = 19% </a:t>
            </a:r>
          </a:p>
        </p:txBody>
      </p:sp>
      <p:pic>
        <p:nvPicPr>
          <p:cNvPr id="18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46011" y="640080"/>
            <a:ext cx="6720290" cy="55778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2"/>
          <p:cNvSpPr/>
          <p:nvPr/>
        </p:nvSpPr>
        <p:spPr>
          <a:xfrm>
            <a:off x="3047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" name="Freeform: Shape 14"/>
          <p:cNvSpPr/>
          <p:nvPr/>
        </p:nvSpPr>
        <p:spPr>
          <a:xfrm>
            <a:off x="0" y="0"/>
            <a:ext cx="4167272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1712" y="0"/>
                </a:lnTo>
                <a:lnTo>
                  <a:pt x="12377" y="259"/>
                </a:lnTo>
                <a:cubicBezTo>
                  <a:pt x="17941" y="2543"/>
                  <a:pt x="21600" y="6412"/>
                  <a:pt x="21600" y="10800"/>
                </a:cubicBezTo>
                <a:cubicBezTo>
                  <a:pt x="21600" y="15188"/>
                  <a:pt x="17941" y="19057"/>
                  <a:pt x="12377" y="21341"/>
                </a:cubicBezTo>
                <a:lnTo>
                  <a:pt x="11712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Título 6"/>
          <p:cNvSpPr txBox="1"/>
          <p:nvPr>
            <p:ph type="title"/>
          </p:nvPr>
        </p:nvSpPr>
        <p:spPr>
          <a:xfrm>
            <a:off x="686833" y="1153572"/>
            <a:ext cx="3200401" cy="44611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Conclusão</a:t>
            </a:r>
          </a:p>
        </p:txBody>
      </p:sp>
      <p:sp>
        <p:nvSpPr>
          <p:cNvPr id="188" name="Arc 16"/>
          <p:cNvSpPr/>
          <p:nvPr/>
        </p:nvSpPr>
        <p:spPr>
          <a:xfrm flipV="1">
            <a:off x="9592117" y="4497194"/>
            <a:ext cx="2041718" cy="20417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11929" y="0"/>
                  <a:pt x="21600" y="9671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189" name="Espaço Reservado para Conteúdo 7"/>
          <p:cNvSpPr txBox="1"/>
          <p:nvPr>
            <p:ph type="body" idx="1"/>
          </p:nvPr>
        </p:nvSpPr>
        <p:spPr>
          <a:xfrm>
            <a:off x="4447307" y="591343"/>
            <a:ext cx="6906492" cy="5585621"/>
          </a:xfrm>
          <a:prstGeom prst="rect">
            <a:avLst/>
          </a:prstGeom>
        </p:spPr>
        <p:txBody>
          <a:bodyPr anchor="ctr"/>
          <a:lstStyle/>
          <a:p>
            <a:pPr marL="221742" indent="-221742" defTabSz="886968">
              <a:spcBef>
                <a:spcPts val="900"/>
              </a:spcBef>
              <a:defRPr sz="1940"/>
            </a:pPr>
            <a:r>
              <a:t>Apesar de a maioria dos modelos terem sido eficientes, Machine Learning ainda requer mais estudo para ser usado na detecção e predição da veracidade de artigos.</a:t>
            </a:r>
          </a:p>
          <a:p>
            <a:pPr marL="221742" indent="-221742" defTabSz="886968">
              <a:spcBef>
                <a:spcPts val="900"/>
              </a:spcBef>
              <a:defRPr sz="1940"/>
            </a:pPr>
            <a:r>
              <a:t>Nesse estudo, foram usados 5 algoritmos para detectar e prever Fake News, dos quais 4 deles tiveram um bom desempenho (acurácia acima de 90%), e apenas um deles, o KNN, deixou a desejar (acurácia entre 60%).</a:t>
            </a:r>
          </a:p>
          <a:p>
            <a:pPr marL="221742" indent="-221742" defTabSz="886968">
              <a:spcBef>
                <a:spcPts val="900"/>
              </a:spcBef>
              <a:defRPr sz="1940"/>
            </a:pPr>
            <a:r>
              <a:t>Os melhores modelos foram de random forest e SVM, enquanto o KNN teve alta incidência de falsos negativos (sensibilidade de 57% e especificidade de 19%).</a:t>
            </a:r>
          </a:p>
          <a:p>
            <a:pPr marL="221742" indent="-221742" defTabSz="886968">
              <a:spcBef>
                <a:spcPts val="900"/>
              </a:spcBef>
              <a:defRPr sz="1940"/>
            </a:pPr>
            <a:r>
              <a:t>Foi observado que há escassez de aplicações para detecção de notícias falsas, sobretudo no Brasil.</a:t>
            </a:r>
          </a:p>
          <a:p>
            <a:pPr marL="221742" indent="-221742" defTabSz="886968">
              <a:spcBef>
                <a:spcPts val="900"/>
              </a:spcBef>
              <a:defRPr sz="1940"/>
            </a:pPr>
            <a:r>
              <a:t>Outros algoritmos como Naive Bayes, Boosting, K-means e Gradiente Descendente, além de outras técnicas de aprendizado de máquina como a Validação Cruzada, K-fold e Leave-one-4,  também podem ser usadas com o mesmo propósito desse estudo.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circl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Freeform: Shape 10"/>
          <p:cNvSpPr/>
          <p:nvPr/>
        </p:nvSpPr>
        <p:spPr>
          <a:xfrm>
            <a:off x="1114425" y="0"/>
            <a:ext cx="9963150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460" y="0"/>
                </a:moveTo>
                <a:lnTo>
                  <a:pt x="18140" y="0"/>
                </a:lnTo>
                <a:lnTo>
                  <a:pt x="18437" y="410"/>
                </a:lnTo>
                <a:cubicBezTo>
                  <a:pt x="20391" y="3250"/>
                  <a:pt x="21600" y="7172"/>
                  <a:pt x="21600" y="11505"/>
                </a:cubicBezTo>
                <a:cubicBezTo>
                  <a:pt x="21600" y="15296"/>
                  <a:pt x="20674" y="18773"/>
                  <a:pt x="19134" y="21485"/>
                </a:cubicBezTo>
                <a:lnTo>
                  <a:pt x="19065" y="21600"/>
                </a:lnTo>
                <a:lnTo>
                  <a:pt x="2535" y="21600"/>
                </a:lnTo>
                <a:lnTo>
                  <a:pt x="2466" y="21485"/>
                </a:lnTo>
                <a:cubicBezTo>
                  <a:pt x="926" y="18773"/>
                  <a:pt x="0" y="15296"/>
                  <a:pt x="0" y="11505"/>
                </a:cubicBezTo>
                <a:cubicBezTo>
                  <a:pt x="0" y="7172"/>
                  <a:pt x="1209" y="3250"/>
                  <a:pt x="3163" y="41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rgbClr val="EFEFEF"/>
            </a:solidFill>
            <a:miter/>
          </a:ln>
          <a:effectLst>
            <a:outerShdw sx="100000" sy="100000" kx="0" ky="0" algn="b" rotWithShape="0" blurRad="139700" dist="0" dir="0">
              <a:srgbClr val="D9D9D9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Bodoni Ornaments"/>
                <a:ea typeface="Bodoni Ornaments"/>
                <a:cs typeface="Bodoni Ornaments"/>
                <a:sym typeface="Bodoni Ornaments"/>
              </a:defRPr>
            </a:pPr>
          </a:p>
        </p:txBody>
      </p:sp>
      <p:sp>
        <p:nvSpPr>
          <p:cNvPr id="193" name="Freeform: Shape 12"/>
          <p:cNvSpPr/>
          <p:nvPr/>
        </p:nvSpPr>
        <p:spPr>
          <a:xfrm>
            <a:off x="1121664" y="0"/>
            <a:ext cx="9948672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460" y="0"/>
                </a:moveTo>
                <a:lnTo>
                  <a:pt x="18140" y="0"/>
                </a:lnTo>
                <a:lnTo>
                  <a:pt x="18437" y="410"/>
                </a:lnTo>
                <a:cubicBezTo>
                  <a:pt x="20391" y="3250"/>
                  <a:pt x="21600" y="7172"/>
                  <a:pt x="21600" y="11505"/>
                </a:cubicBezTo>
                <a:cubicBezTo>
                  <a:pt x="21600" y="15296"/>
                  <a:pt x="20674" y="18773"/>
                  <a:pt x="19134" y="21485"/>
                </a:cubicBezTo>
                <a:lnTo>
                  <a:pt x="19065" y="21600"/>
                </a:lnTo>
                <a:lnTo>
                  <a:pt x="2535" y="21600"/>
                </a:lnTo>
                <a:lnTo>
                  <a:pt x="2466" y="21485"/>
                </a:lnTo>
                <a:cubicBezTo>
                  <a:pt x="926" y="18773"/>
                  <a:pt x="0" y="15296"/>
                  <a:pt x="0" y="11505"/>
                </a:cubicBezTo>
                <a:cubicBezTo>
                  <a:pt x="0" y="7172"/>
                  <a:pt x="1209" y="3250"/>
                  <a:pt x="3163" y="41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Bodoni Ornaments"/>
                <a:ea typeface="Bodoni Ornaments"/>
                <a:cs typeface="Bodoni Ornaments"/>
                <a:sym typeface="Bodoni Ornaments"/>
              </a:defRPr>
            </a:pPr>
          </a:p>
        </p:txBody>
      </p:sp>
      <p:sp>
        <p:nvSpPr>
          <p:cNvPr id="194" name="Título 3"/>
          <p:cNvSpPr txBox="1"/>
          <p:nvPr>
            <p:ph type="title"/>
          </p:nvPr>
        </p:nvSpPr>
        <p:spPr>
          <a:xfrm>
            <a:off x="1524003" y="1999614"/>
            <a:ext cx="9144001" cy="2764029"/>
          </a:xfrm>
          <a:prstGeom prst="rect">
            <a:avLst/>
          </a:prstGeom>
        </p:spPr>
        <p:txBody>
          <a:bodyPr/>
          <a:lstStyle>
            <a:lvl1pPr algn="ctr">
              <a:defRPr sz="7200"/>
            </a:lvl1pPr>
          </a:lstStyle>
          <a:p>
            <a:pPr/>
            <a:r>
              <a:t>FIM</a:t>
            </a:r>
          </a:p>
        </p:txBody>
      </p:sp>
      <p:sp>
        <p:nvSpPr>
          <p:cNvPr id="195" name="Rectangle 14"/>
          <p:cNvSpPr/>
          <p:nvPr/>
        </p:nvSpPr>
        <p:spPr>
          <a:xfrm>
            <a:off x="3718559" y="5524786"/>
            <a:ext cx="4754881" cy="27433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Bodoni Ornaments"/>
                <a:ea typeface="Bodoni Ornaments"/>
                <a:cs typeface="Bodoni Ornaments"/>
                <a:sym typeface="Bodoni Ornaments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pull dir="l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Tema do Offic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Tema do Offic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